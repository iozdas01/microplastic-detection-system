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/>
    <p:restoredTop sz="94620"/>
  </p:normalViewPr>
  <p:slideViewPr>
    <p:cSldViewPr snapToGrid="0">
      <p:cViewPr varScale="1">
        <p:scale>
          <a:sx n="114" d="100"/>
          <a:sy n="114" d="100"/>
        </p:scale>
        <p:origin x="4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reports/outreach/copy/pitch.md, 2026-09-14. Editorial draft from the existing investor brief.</a:t>
            </a:r>
          </a:p>
          <a:p>
            <a:r>
              <a:t>Lattice is the working company name in the founder brief. Opening: Textile manufacturing needs a microfibre number while the process can still respond. We are developing measurement at the dye-machine outlet. The technology is pre-prototype, not a validated product.</a:t>
            </a:r>
          </a:p>
          <a:p>
            <a:r>
              <a:t>Cover artwork generated with OpenAI image generation: false-colour violet textile fibre on black, cream pixel dithering and cyan detection highlight. Conceptual brand artwork, not laboratory evidence.</a:t>
            </a:r>
          </a:p>
          <a:p>
            <a:r>
              <a:t>Name/relationship to Baltic Jungle Lab remains a founder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reports/outreach/copy/pitch.md, 2026-09-14. Editorial draft from the existing investor brief.</a:t>
            </a:r>
          </a:p>
          <a:p>
            <a:r>
              <a:t>Evidence E7: H&amp;M supplier wastewater control uses TSS (30 mg/L), not fibre counts. The team reported that it does not necessarily control microfibre directly. Quote kept in context.</a:t>
            </a:r>
          </a:p>
          <a:p>
            <a:r>
              <a:t>Evidence E15: Measurlabs micro-Raman wastewater analysis, €390 per sample plus €97 order fee, results four weeks after receipt. This is one commercial example, not a universal turnaround. https://measurlabs.com/products/microplastics-in-water-and-wastewater-micro-raman/</a:t>
            </a:r>
          </a:p>
          <a:p>
            <a:r>
              <a:t>Sources: reports/03-validation/evidence.md, E3, E7, E15.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reports/outreach/copy/pitch.md, 2026-09-14. Editorial draft from the existing investor brief.</a:t>
            </a:r>
          </a:p>
          <a:p>
            <a:r>
              <a:t>Proposed at-line architecture from the optical technology brief, 2026-09-07, private/tech/optical-tech-brief-2026-09-07.pdf. Discharge bypass, conditioning, membrane capture, polarised imaging, classifier, output linked to stage, batch and machine.</a:t>
            </a:r>
          </a:p>
          <a:p>
            <a:r>
              <a:t>Count and size first. Synthetic versus natural classification remains a testable technical target. Do not claim that natural fibres universally stay dark under crossed polarisers. Do not assert polymer identity, accuracy or a measured response time.</a:t>
            </a:r>
          </a:p>
          <a:p>
            <a:r>
              <a:t>Evidence E10: adidas prioritises size distribution and identifies contrast/background noise in dyed effluent as a key risk. Evidence E8: interest in before/after ETP measurement without flow stoppage.</a:t>
            </a:r>
          </a:p>
          <a:p>
            <a:r>
              <a:t>Current state in the source brief: imaging-rig design exists. Stage 0 has not run and the lab kit is planned after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reports/outreach/copy/pitch.md, 2026-09-14. Editorial draft from the existing investor brief.</a:t>
            </a:r>
          </a:p>
          <a:p>
            <a:r>
              <a:t>Evidence E13: The Microfibre Consortium and ZDHC launched Phase 2 research at 15 facilities, co-funded by adidas, lululemon, Primark and Tesco, comparing TSS with image-based fibre counts. https://www.roadmaptozero.com/post/the-microfibre-consortium-and-zdhc-advance-joint-research-to-strengthen-wastewater-monitoring-of-fibre-fragmentation</a:t>
            </a:r>
          </a:p>
          <a:p>
            <a:r>
              <a:t>Evidence E4: Inditex Green to Wear 3.2, July 2026, B-ranking criterion for fibres/microfibres released without internal control. This is a supplier grading requirement, not a demand for a numerical fibre count.</a:t>
            </a:r>
          </a:p>
          <a:p>
            <a:r>
              <a:t>Evidence E14: TMC/ZDHC state intent to set maximum allowable effluent fibre limits, but no timing is given.</a:t>
            </a:r>
          </a:p>
          <a:p>
            <a:r>
              <a:t>Countercase: if the proxy validates, existing TSS measurement may be good enough. E11: adidas expects limited near-term regulatory/claims pull. All dates and research claims here are from supplied source artifacts, not independently refreshed for this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reports/outreach/copy/pitch.md, 2026-09-14. Editorial draft from the existing investor brief.</a:t>
            </a:r>
          </a:p>
          <a:p>
            <a:r>
              <a:t>Founder biographies: founders/sandra-zalas.md and founders/izgin-ozdas.md. Current title allocation follows the 2026-09-14 pitch, which is newer than some founder records. Sandra founded Baltic Jungle Lab and is a PFR School of Pioneers winner. Izgin contributed to CNC robot automation at IMTEK and holds a Cambridge MPhil in Industrial Systems, Manufacturing &amp; Management with interoperability work.</a:t>
            </a:r>
          </a:p>
          <a:p>
            <a:r>
              <a:t>Jeffrey Chang introduced ML/computer-vision experience on the Matter call. Irfan Ali role comes from the founder pitch, with his one-line bio still open. Proposed advisor names remain explicitly unconfirmed for external naming.</a:t>
            </a:r>
          </a:p>
          <a:p>
            <a:r>
              <a:t>Founder decisions outstanding: Igor Veredyn introduced himself on H&amp;M call as technical co-founder; whether he belongs on the team slide is unresolved. Confirm final roles, Sandra biography and advisor consent before external circulation.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reports/outreach/copy/pitch.md, 2026-09-14. Editorial draft from the existing investor brief.</a:t>
            </a:r>
          </a:p>
          <a:p>
            <a:r>
              <a:t>Evidence E10: adidas microfibre lead Varija Subasingha said this was the first such device she had come across. It is an observation by one interviewee, not a novelty or exclusivity claim. E9: offered potential brand-partner/Fashion for Good introductions conditional on a good prototype.</a:t>
            </a:r>
          </a:p>
          <a:p>
            <a:r>
              <a:t>Evidence E8: H&amp;M innovation/water team quote, with ellipsis retained, referred to monitoring compared with filtration/ETP solutions known to them. E9: supplier access was tentative, not arranged.</a:t>
            </a:r>
          </a:p>
          <a:p>
            <a:r>
              <a:t>Matter conversations are under NDA. This slide intentionally carries only relationship status and publicly described industry. Any further pilot invitation details require the founders to approve wording against the NDA.</a:t>
            </a:r>
          </a:p>
          <a:p>
            <a:r>
              <a:t>All relationships are active conversations, not revenue, paid design partnerships or signed pilots. Sources: E5-E10, reports/03-validation/evidence.md.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reports/outreach/copy/pitch.md, 2026-09-14. Editorial draft from the existing investor brief.</a:t>
            </a:r>
          </a:p>
          <a:p>
            <a:r>
              <a:t>Market figures are assumptions in the existing pitch. Installed base 50,000-150,000 inferred from shipment flow, an assumed 15-20 year service life and local manufacturers outside the reporting sample. Do not present the installed base as a measured count.</a:t>
            </a:r>
          </a:p>
          <a:p>
            <a:r>
              <a:t>Annual software scenario: 50,000 × $100/month × 12 = $60M; 150,000 × $250/month × 12 = $450M. Assumes 100% adoption and one paid subscription per machine. No tested willingness to pay, validated price or sales forecast.</a:t>
            </a:r>
          </a:p>
          <a:p>
            <a:r>
              <a:t>Shipment source used in the brief: ITMF via https://www.textileworld.com/textile-world/2026/07/itmf-global-textile-machinery-shipments-shrunk-in-2025-except-for-spinning/ . Do not confuse annual shipments with the installed base.</a:t>
            </a:r>
          </a:p>
          <a:p>
            <a:r>
              <a:t>Expansion is a founder vision from input-context/belief.md, not validated demand in every liquid process. Funding amount, use-of-funds allocation, and timeline remain founder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-1">
            <a:extLst>
              <a:ext uri="{FF2B5EF4-FFF2-40B4-BE49-F238E27FC236}">
                <a16:creationId xmlns:a16="http://schemas.microsoft.com/office/drawing/2014/main" id="{F3C16A0F-ED3E-450C-8B85-C62B11708457}"/>
              </a:ext>
            </a:extLst>
          </p:cNvPr>
          <p:cNvSpPr>
            <a:spLocks noGrp="1"/>
          </p:cNvSpPr>
          <p:nvPr/>
        </p:nvSpPr>
        <p:spPr>
          <a:xfrm>
            <a:off x="571500" y="1581150"/>
            <a:ext cx="6667500" cy="1952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3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Lattice</a:t>
            </a:r>
          </a:p>
        </p:txBody>
      </p:sp>
      <p:sp>
        <p:nvSpPr>
          <p:cNvPr id="3" name="text-2">
            <a:extLst>
              <a:ext uri="{FF2B5EF4-FFF2-40B4-BE49-F238E27FC236}">
                <a16:creationId xmlns:a16="http://schemas.microsoft.com/office/drawing/2014/main" id="{ADD2316A-0BB6-49E2-BF97-D3894D96B7F0}"/>
              </a:ext>
            </a:extLst>
          </p:cNvPr>
          <p:cNvSpPr>
            <a:spLocks noGrp="1"/>
          </p:cNvSpPr>
          <p:nvPr/>
        </p:nvSpPr>
        <p:spPr>
          <a:xfrm>
            <a:off x="628650" y="3667125"/>
            <a:ext cx="64770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2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Sensing the impossible.</a:t>
            </a:r>
          </a:p>
        </p:txBody>
      </p:sp>
      <p:sp>
        <p:nvSpPr>
          <p:cNvPr id="4" name="text-3">
            <a:extLst>
              <a:ext uri="{FF2B5EF4-FFF2-40B4-BE49-F238E27FC236}">
                <a16:creationId xmlns:a16="http://schemas.microsoft.com/office/drawing/2014/main" id="{6C68AEA1-FC0B-42DE-B2C8-DC8F11ED0D20}"/>
              </a:ext>
            </a:extLst>
          </p:cNvPr>
          <p:cNvSpPr>
            <a:spLocks noGrp="1"/>
          </p:cNvSpPr>
          <p:nvPr/>
        </p:nvSpPr>
        <p:spPr>
          <a:xfrm>
            <a:off x="647700" y="4448175"/>
            <a:ext cx="55245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Microfibre measurement</a:t>
            </a:r>
          </a:p>
          <a:p>
            <a:pPr>
              <a:defRPr sz="21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at the factory outlet</a:t>
            </a:r>
          </a:p>
        </p:txBody>
      </p:sp>
      <p:sp>
        <p:nvSpPr>
          <p:cNvPr id="5" name="text-4">
            <a:extLst>
              <a:ext uri="{FF2B5EF4-FFF2-40B4-BE49-F238E27FC236}">
                <a16:creationId xmlns:a16="http://schemas.microsoft.com/office/drawing/2014/main" id="{A2C7543A-0CB9-4F18-A122-7C086B059FFE}"/>
              </a:ext>
            </a:extLst>
          </p:cNvPr>
          <p:cNvSpPr>
            <a:spLocks noGrp="1"/>
          </p:cNvSpPr>
          <p:nvPr/>
        </p:nvSpPr>
        <p:spPr>
          <a:xfrm>
            <a:off x="647700" y="6191250"/>
            <a:ext cx="6096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Sandra Zalas  /  Izgin Ozdas</a:t>
            </a:r>
          </a:p>
        </p:txBody>
      </p:sp>
      <p:sp>
        <p:nvSpPr>
          <p:cNvPr id="6" name="text-5">
            <a:extLst>
              <a:ext uri="{FF2B5EF4-FFF2-40B4-BE49-F238E27FC236}">
                <a16:creationId xmlns:a16="http://schemas.microsoft.com/office/drawing/2014/main" id="{DF4E582A-2242-4A62-9F74-FDE0C3E24448}"/>
              </a:ext>
            </a:extLst>
          </p:cNvPr>
          <p:cNvSpPr>
            <a:spLocks noGrp="1"/>
          </p:cNvSpPr>
          <p:nvPr/>
        </p:nvSpPr>
        <p:spPr>
          <a:xfrm>
            <a:off x="647700" y="476250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12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PRE-SEED DRAFT  /  SEPT 2026</a:t>
            </a:r>
          </a:p>
        </p:txBody>
      </p:sp>
    </p:spTree>
    <p:extLst>
      <p:ext uri="{BB962C8B-B14F-4D97-AF65-F5344CB8AC3E}">
        <p14:creationId xmlns:p14="http://schemas.microsoft.com/office/powerpoint/2010/main" val="1116567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-6">
            <a:extLst>
              <a:ext uri="{FF2B5EF4-FFF2-40B4-BE49-F238E27FC236}">
                <a16:creationId xmlns:a16="http://schemas.microsoft.com/office/drawing/2014/main" id="{7AE58081-4975-4B16-8D9B-7B26853E37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525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PROBLEM</a:t>
            </a:r>
          </a:p>
        </p:txBody>
      </p:sp>
      <p:sp>
        <p:nvSpPr>
          <p:cNvPr id="2" name="text-7">
            <a:extLst>
              <a:ext uri="{FF2B5EF4-FFF2-40B4-BE49-F238E27FC236}">
                <a16:creationId xmlns:a16="http://schemas.microsoft.com/office/drawing/2014/main" id="{1E1B2358-9F80-4D0E-A64C-6C2CFE62ABF3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text-8">
            <a:extLst>
              <a:ext uri="{FF2B5EF4-FFF2-40B4-BE49-F238E27FC236}">
                <a16:creationId xmlns:a16="http://schemas.microsoft.com/office/drawing/2014/main" id="{FC8275F1-70E6-43CE-BCB9-D80A8C38794B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10810875" cy="1504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batch is gone.</a:t>
            </a:r>
          </a:p>
          <a:p>
            <a:pPr>
              <a:defRPr sz="4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result is still in the lab.</a:t>
            </a:r>
          </a:p>
        </p:txBody>
      </p:sp>
      <p:sp>
        <p:nvSpPr>
          <p:cNvPr id="4" name="text-9">
            <a:extLst>
              <a:ext uri="{FF2B5EF4-FFF2-40B4-BE49-F238E27FC236}">
                <a16:creationId xmlns:a16="http://schemas.microsoft.com/office/drawing/2014/main" id="{B337B4A7-E617-4C1A-9C32-320EAAE71A8D}"/>
              </a:ext>
            </a:extLst>
          </p:cNvPr>
          <p:cNvSpPr>
            <a:spLocks noGrp="1"/>
          </p:cNvSpPr>
          <p:nvPr/>
        </p:nvSpPr>
        <p:spPr>
          <a:xfrm>
            <a:off x="552450" y="2705100"/>
            <a:ext cx="3048000" cy="1809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0" b="1">
                <a:solidFill>
                  <a:srgbClr val="3CC8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0" b="1">
                <a:solidFill>
                  <a:srgbClr val="3CC8D8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5" name="text-10">
            <a:extLst>
              <a:ext uri="{FF2B5EF4-FFF2-40B4-BE49-F238E27FC236}">
                <a16:creationId xmlns:a16="http://schemas.microsoft.com/office/drawing/2014/main" id="{58ABA6FD-8B2F-466D-8CCF-6FCE9E1F810C}"/>
              </a:ext>
            </a:extLst>
          </p:cNvPr>
          <p:cNvSpPr>
            <a:spLocks noGrp="1"/>
          </p:cNvSpPr>
          <p:nvPr/>
        </p:nvSpPr>
        <p:spPr>
          <a:xfrm>
            <a:off x="647700" y="4505325"/>
            <a:ext cx="3524250" cy="638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8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weeks</a:t>
            </a:r>
          </a:p>
        </p:txBody>
      </p:sp>
      <p:sp>
        <p:nvSpPr>
          <p:cNvPr id="6" name="text-11">
            <a:extLst>
              <a:ext uri="{FF2B5EF4-FFF2-40B4-BE49-F238E27FC236}">
                <a16:creationId xmlns:a16="http://schemas.microsoft.com/office/drawing/2014/main" id="{1146186E-5544-4099-AECF-A4AA1D073CAB}"/>
              </a:ext>
            </a:extLst>
          </p:cNvPr>
          <p:cNvSpPr>
            <a:spLocks noGrp="1"/>
          </p:cNvSpPr>
          <p:nvPr/>
        </p:nvSpPr>
        <p:spPr>
          <a:xfrm>
            <a:off x="666750" y="5372100"/>
            <a:ext cx="466725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8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€390 per wastewater sample¹</a:t>
            </a:r>
          </a:p>
        </p:txBody>
      </p:sp>
      <p:sp>
        <p:nvSpPr>
          <p:cNvPr id="7" name="text-12">
            <a:extLst>
              <a:ext uri="{FF2B5EF4-FFF2-40B4-BE49-F238E27FC236}">
                <a16:creationId xmlns:a16="http://schemas.microsoft.com/office/drawing/2014/main" id="{0DB99B50-3BD9-4C31-8C5A-15770FE614E0}"/>
              </a:ext>
            </a:extLst>
          </p:cNvPr>
          <p:cNvSpPr>
            <a:spLocks noGrp="1"/>
          </p:cNvSpPr>
          <p:nvPr/>
        </p:nvSpPr>
        <p:spPr>
          <a:xfrm>
            <a:off x="5572125" y="2990850"/>
            <a:ext cx="596265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“We do not necessarily</a:t>
            </a:r>
          </a:p>
          <a:p>
            <a:pPr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control microfiber.”</a:t>
            </a:r>
          </a:p>
        </p:txBody>
      </p:sp>
      <p:sp>
        <p:nvSpPr>
          <p:cNvPr id="8" name="text-13">
            <a:extLst>
              <a:ext uri="{FF2B5EF4-FFF2-40B4-BE49-F238E27FC236}">
                <a16:creationId xmlns:a16="http://schemas.microsoft.com/office/drawing/2014/main" id="{2FECA9A0-224D-476B-B772-60BD053BDB37}"/>
              </a:ext>
            </a:extLst>
          </p:cNvPr>
          <p:cNvSpPr>
            <a:spLocks noGrp="1"/>
          </p:cNvSpPr>
          <p:nvPr/>
        </p:nvSpPr>
        <p:spPr>
          <a:xfrm>
            <a:off x="5591175" y="4371975"/>
            <a:ext cx="5619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65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H&amp;M water team</a:t>
            </a:r>
          </a:p>
        </p:txBody>
      </p:sp>
      <p:sp>
        <p:nvSpPr>
          <p:cNvPr id="9" name="text-14">
            <a:extLst>
              <a:ext uri="{FF2B5EF4-FFF2-40B4-BE49-F238E27FC236}">
                <a16:creationId xmlns:a16="http://schemas.microsoft.com/office/drawing/2014/main" id="{C4950FBF-3D8E-4827-9C37-49EF7B26C1F7}"/>
              </a:ext>
            </a:extLst>
          </p:cNvPr>
          <p:cNvSpPr>
            <a:spLocks noGrp="1"/>
          </p:cNvSpPr>
          <p:nvPr/>
        </p:nvSpPr>
        <p:spPr>
          <a:xfrm>
            <a:off x="5591175" y="4981575"/>
            <a:ext cx="5810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8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Mills use total suspended solids as a proxy.</a:t>
            </a:r>
          </a:p>
          <a:p>
            <a:pPr>
              <a:defRPr sz="18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It does not identify which particles are fibres.</a:t>
            </a:r>
          </a:p>
        </p:txBody>
      </p:sp>
      <p:sp>
        <p:nvSpPr>
          <p:cNvPr id="10" name="text-15">
            <a:extLst>
              <a:ext uri="{FF2B5EF4-FFF2-40B4-BE49-F238E27FC236}">
                <a16:creationId xmlns:a16="http://schemas.microsoft.com/office/drawing/2014/main" id="{BB0F67F9-081C-4916-A22E-F7030FAF7163}"/>
              </a:ext>
            </a:extLst>
          </p:cNvPr>
          <p:cNvSpPr>
            <a:spLocks noGrp="1"/>
          </p:cNvSpPr>
          <p:nvPr/>
        </p:nvSpPr>
        <p:spPr>
          <a:xfrm>
            <a:off x="657225" y="6305550"/>
            <a:ext cx="106680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12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¹ Measurlabs listing cited in the brief. Four weeks after receipt, plus €97 per order.</a:t>
            </a:r>
          </a:p>
        </p:txBody>
      </p:sp>
    </p:spTree>
    <p:extLst>
      <p:ext uri="{BB962C8B-B14F-4D97-AF65-F5344CB8AC3E}">
        <p14:creationId xmlns:p14="http://schemas.microsoft.com/office/powerpoint/2010/main" val="464663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-16">
            <a:extLst>
              <a:ext uri="{FF2B5EF4-FFF2-40B4-BE49-F238E27FC236}">
                <a16:creationId xmlns:a16="http://schemas.microsoft.com/office/drawing/2014/main" id="{52ACBD5B-731F-4CDF-B16F-1F94ECD078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525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SOLUTION</a:t>
            </a:r>
          </a:p>
        </p:txBody>
      </p:sp>
      <p:sp>
        <p:nvSpPr>
          <p:cNvPr id="2" name="text-17">
            <a:extLst>
              <a:ext uri="{FF2B5EF4-FFF2-40B4-BE49-F238E27FC236}">
                <a16:creationId xmlns:a16="http://schemas.microsoft.com/office/drawing/2014/main" id="{E7E95FD8-7C87-4E04-ACEF-49D0DA093E39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text-18">
            <a:extLst>
              <a:ext uri="{FF2B5EF4-FFF2-40B4-BE49-F238E27FC236}">
                <a16:creationId xmlns:a16="http://schemas.microsoft.com/office/drawing/2014/main" id="{CAEF1C18-4B2D-49C5-BDAE-97D721EEA692}"/>
              </a:ext>
            </a:extLst>
          </p:cNvPr>
          <p:cNvSpPr>
            <a:spLocks noGrp="1"/>
          </p:cNvSpPr>
          <p:nvPr/>
        </p:nvSpPr>
        <p:spPr>
          <a:xfrm>
            <a:off x="609600" y="1009650"/>
            <a:ext cx="10572750" cy="1438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microfibre number</a:t>
            </a:r>
          </a:p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for every batch</a:t>
            </a:r>
          </a:p>
        </p:txBody>
      </p:sp>
      <p:sp>
        <p:nvSpPr>
          <p:cNvPr id="4" name="text-19">
            <a:extLst>
              <a:ext uri="{FF2B5EF4-FFF2-40B4-BE49-F238E27FC236}">
                <a16:creationId xmlns:a16="http://schemas.microsoft.com/office/drawing/2014/main" id="{C491AD7E-368A-4863-81BC-9D9315FBC8E6}"/>
              </a:ext>
            </a:extLst>
          </p:cNvPr>
          <p:cNvSpPr>
            <a:spLocks noGrp="1"/>
          </p:cNvSpPr>
          <p:nvPr/>
        </p:nvSpPr>
        <p:spPr>
          <a:xfrm>
            <a:off x="628650" y="2695575"/>
            <a:ext cx="107632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An optical module beside the dye-machine discharge line.</a:t>
            </a:r>
          </a:p>
        </p:txBody>
      </p:sp>
      <p:sp>
        <p:nvSpPr>
          <p:cNvPr id="5" name="text-20">
            <a:extLst>
              <a:ext uri="{FF2B5EF4-FFF2-40B4-BE49-F238E27FC236}">
                <a16:creationId xmlns:a16="http://schemas.microsoft.com/office/drawing/2014/main" id="{410071C4-30D9-4652-8EA7-280CFBD62B14}"/>
              </a:ext>
            </a:extLst>
          </p:cNvPr>
          <p:cNvSpPr>
            <a:spLocks noGrp="1"/>
          </p:cNvSpPr>
          <p:nvPr/>
        </p:nvSpPr>
        <p:spPr>
          <a:xfrm>
            <a:off x="647700" y="3705225"/>
            <a:ext cx="857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400" b="1">
                <a:solidFill>
                  <a:srgbClr val="8A4F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8A4FC7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text-21">
            <a:extLst>
              <a:ext uri="{FF2B5EF4-FFF2-40B4-BE49-F238E27FC236}">
                <a16:creationId xmlns:a16="http://schemas.microsoft.com/office/drawing/2014/main" id="{CA41BD95-4832-4767-B00C-567121C5B4E6}"/>
              </a:ext>
            </a:extLst>
          </p:cNvPr>
          <p:cNvSpPr>
            <a:spLocks noGrp="1"/>
          </p:cNvSpPr>
          <p:nvPr/>
        </p:nvSpPr>
        <p:spPr>
          <a:xfrm>
            <a:off x="647700" y="4314825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Sample</a:t>
            </a:r>
          </a:p>
        </p:txBody>
      </p:sp>
      <p:sp>
        <p:nvSpPr>
          <p:cNvPr id="7" name="text-22">
            <a:extLst>
              <a:ext uri="{FF2B5EF4-FFF2-40B4-BE49-F238E27FC236}">
                <a16:creationId xmlns:a16="http://schemas.microsoft.com/office/drawing/2014/main" id="{E1B4925D-826C-4737-9801-99D5766C4AA9}"/>
              </a:ext>
            </a:extLst>
          </p:cNvPr>
          <p:cNvSpPr>
            <a:spLocks noGrp="1"/>
          </p:cNvSpPr>
          <p:nvPr/>
        </p:nvSpPr>
        <p:spPr>
          <a:xfrm>
            <a:off x="647700" y="4914900"/>
            <a:ext cx="3105150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A bypass draws</a:t>
            </a:r>
          </a:p>
          <a:p>
            <a:pPr>
              <a:def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process water.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BE515B0F-C4E7-4785-9E61-66444A7E75D3}"/>
              </a:ext>
            </a:extLst>
          </p:cNvPr>
          <p:cNvSpPr>
            <a:spLocks noGrp="1"/>
          </p:cNvSpPr>
          <p:nvPr/>
        </p:nvSpPr>
        <p:spPr>
          <a:xfrm>
            <a:off x="1695450" y="3886200"/>
            <a:ext cx="2286000" cy="0"/>
          </a:xfrm>
          <a:prstGeom prst="line">
            <a:avLst/>
          </a:prstGeom>
          <a:noFill/>
          <a:ln w="19050">
            <a:solidFill>
              <a:srgbClr val="8A4FC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-23">
            <a:extLst>
              <a:ext uri="{FF2B5EF4-FFF2-40B4-BE49-F238E27FC236}">
                <a16:creationId xmlns:a16="http://schemas.microsoft.com/office/drawing/2014/main" id="{CC0FB82A-AFF4-4855-82B8-69ADA06CE9EB}"/>
              </a:ext>
            </a:extLst>
          </p:cNvPr>
          <p:cNvSpPr>
            <a:spLocks noGrp="1"/>
          </p:cNvSpPr>
          <p:nvPr/>
        </p:nvSpPr>
        <p:spPr>
          <a:xfrm>
            <a:off x="4495800" y="3705225"/>
            <a:ext cx="857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400" b="1">
                <a:solidFill>
                  <a:srgbClr val="3CC8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CC8D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text-24">
            <a:extLst>
              <a:ext uri="{FF2B5EF4-FFF2-40B4-BE49-F238E27FC236}">
                <a16:creationId xmlns:a16="http://schemas.microsoft.com/office/drawing/2014/main" id="{140EE68B-2122-4459-AEC0-D005F23CB547}"/>
              </a:ext>
            </a:extLst>
          </p:cNvPr>
          <p:cNvSpPr>
            <a:spLocks noGrp="1"/>
          </p:cNvSpPr>
          <p:nvPr/>
        </p:nvSpPr>
        <p:spPr>
          <a:xfrm>
            <a:off x="4495800" y="4314825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Capture + image</a:t>
            </a:r>
          </a:p>
        </p:txBody>
      </p:sp>
      <p:sp>
        <p:nvSpPr>
          <p:cNvPr id="11" name="text-25">
            <a:extLst>
              <a:ext uri="{FF2B5EF4-FFF2-40B4-BE49-F238E27FC236}">
                <a16:creationId xmlns:a16="http://schemas.microsoft.com/office/drawing/2014/main" id="{DC2025CC-1200-4D12-911A-BE3848A8BBD8}"/>
              </a:ext>
            </a:extLst>
          </p:cNvPr>
          <p:cNvSpPr>
            <a:spLocks noGrp="1"/>
          </p:cNvSpPr>
          <p:nvPr/>
        </p:nvSpPr>
        <p:spPr>
          <a:xfrm>
            <a:off x="4495800" y="4914900"/>
            <a:ext cx="3105150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A membrane holds fibres</a:t>
            </a:r>
          </a:p>
          <a:p>
            <a:pPr>
              <a:def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for polarised imaging.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26BBC531-4AFD-42B7-B98E-D75548CD7013}"/>
              </a:ext>
            </a:extLst>
          </p:cNvPr>
          <p:cNvSpPr>
            <a:spLocks noGrp="1"/>
          </p:cNvSpPr>
          <p:nvPr/>
        </p:nvSpPr>
        <p:spPr>
          <a:xfrm>
            <a:off x="5543550" y="3886200"/>
            <a:ext cx="2286000" cy="0"/>
          </a:xfrm>
          <a:prstGeom prst="line">
            <a:avLst/>
          </a:prstGeom>
          <a:noFill/>
          <a:ln w="19050">
            <a:solidFill>
              <a:srgbClr val="3CC8D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-26">
            <a:extLst>
              <a:ext uri="{FF2B5EF4-FFF2-40B4-BE49-F238E27FC236}">
                <a16:creationId xmlns:a16="http://schemas.microsoft.com/office/drawing/2014/main" id="{6AE6D615-BB39-4016-B841-079519BF6922}"/>
              </a:ext>
            </a:extLst>
          </p:cNvPr>
          <p:cNvSpPr>
            <a:spLocks noGrp="1"/>
          </p:cNvSpPr>
          <p:nvPr/>
        </p:nvSpPr>
        <p:spPr>
          <a:xfrm>
            <a:off x="8439150" y="3705225"/>
            <a:ext cx="857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400" b="1">
                <a:solidFill>
                  <a:srgbClr val="8A4F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8A4FC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ext-27">
            <a:extLst>
              <a:ext uri="{FF2B5EF4-FFF2-40B4-BE49-F238E27FC236}">
                <a16:creationId xmlns:a16="http://schemas.microsoft.com/office/drawing/2014/main" id="{85CF6A96-BD91-4FFE-BF90-63448E19BA1E}"/>
              </a:ext>
            </a:extLst>
          </p:cNvPr>
          <p:cNvSpPr>
            <a:spLocks noGrp="1"/>
          </p:cNvSpPr>
          <p:nvPr/>
        </p:nvSpPr>
        <p:spPr>
          <a:xfrm>
            <a:off x="8439150" y="4314825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Measure</a:t>
            </a:r>
          </a:p>
        </p:txBody>
      </p:sp>
      <p:sp>
        <p:nvSpPr>
          <p:cNvPr id="15" name="text-28">
            <a:extLst>
              <a:ext uri="{FF2B5EF4-FFF2-40B4-BE49-F238E27FC236}">
                <a16:creationId xmlns:a16="http://schemas.microsoft.com/office/drawing/2014/main" id="{E847A675-ACCD-4BBC-A10E-9BE3C51458E5}"/>
              </a:ext>
            </a:extLst>
          </p:cNvPr>
          <p:cNvSpPr>
            <a:spLocks noGrp="1"/>
          </p:cNvSpPr>
          <p:nvPr/>
        </p:nvSpPr>
        <p:spPr>
          <a:xfrm>
            <a:off x="8439150" y="4914900"/>
            <a:ext cx="3105150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Count and size fibres,</a:t>
            </a:r>
          </a:p>
          <a:p>
            <a:pPr>
              <a:def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linked to the batch.</a:t>
            </a:r>
          </a:p>
        </p:txBody>
      </p:sp>
      <p:sp>
        <p:nvSpPr>
          <p:cNvPr id="16" name="text-29">
            <a:extLst>
              <a:ext uri="{FF2B5EF4-FFF2-40B4-BE49-F238E27FC236}">
                <a16:creationId xmlns:a16="http://schemas.microsoft.com/office/drawing/2014/main" id="{319EA897-F26D-4117-A620-E4B78A9BDA0F}"/>
              </a:ext>
            </a:extLst>
          </p:cNvPr>
          <p:cNvSpPr>
            <a:spLocks noGrp="1"/>
          </p:cNvSpPr>
          <p:nvPr/>
        </p:nvSpPr>
        <p:spPr>
          <a:xfrm>
            <a:off x="647700" y="6267450"/>
            <a:ext cx="10858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35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Development target. Next test: optical contrast in dyed wastewater.</a:t>
            </a:r>
          </a:p>
        </p:txBody>
      </p:sp>
    </p:spTree>
    <p:extLst>
      <p:ext uri="{BB962C8B-B14F-4D97-AF65-F5344CB8AC3E}">
        <p14:creationId xmlns:p14="http://schemas.microsoft.com/office/powerpoint/2010/main" val="1519568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-30">
            <a:extLst>
              <a:ext uri="{FF2B5EF4-FFF2-40B4-BE49-F238E27FC236}">
                <a16:creationId xmlns:a16="http://schemas.microsoft.com/office/drawing/2014/main" id="{5B383D9C-8106-4134-9A3B-D38DC8B8ADF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525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WHY NOW</a:t>
            </a:r>
          </a:p>
        </p:txBody>
      </p:sp>
      <p:sp>
        <p:nvSpPr>
          <p:cNvPr id="2" name="text-31">
            <a:extLst>
              <a:ext uri="{FF2B5EF4-FFF2-40B4-BE49-F238E27FC236}">
                <a16:creationId xmlns:a16="http://schemas.microsoft.com/office/drawing/2014/main" id="{79A56C70-95D2-4FCC-A393-3B8F563232D9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text-32">
            <a:extLst>
              <a:ext uri="{FF2B5EF4-FFF2-40B4-BE49-F238E27FC236}">
                <a16:creationId xmlns:a16="http://schemas.microsoft.com/office/drawing/2014/main" id="{9A7B7398-BD9C-453D-8A7C-79219C7554F1}"/>
              </a:ext>
            </a:extLst>
          </p:cNvPr>
          <p:cNvSpPr>
            <a:spLocks noGrp="1"/>
          </p:cNvSpPr>
          <p:nvPr/>
        </p:nvSpPr>
        <p:spPr>
          <a:xfrm>
            <a:off x="609600" y="1019175"/>
            <a:ext cx="10953750" cy="1438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industry is testing</a:t>
            </a:r>
          </a:p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its own proxy</a:t>
            </a:r>
          </a:p>
        </p:txBody>
      </p:sp>
      <p:sp>
        <p:nvSpPr>
          <p:cNvPr id="4" name="text-33">
            <a:extLst>
              <a:ext uri="{FF2B5EF4-FFF2-40B4-BE49-F238E27FC236}">
                <a16:creationId xmlns:a16="http://schemas.microsoft.com/office/drawing/2014/main" id="{5DB659AA-FA7A-42BA-9AA0-024317E91207}"/>
              </a:ext>
            </a:extLst>
          </p:cNvPr>
          <p:cNvSpPr>
            <a:spLocks noGrp="1"/>
          </p:cNvSpPr>
          <p:nvPr/>
        </p:nvSpPr>
        <p:spPr>
          <a:xfrm>
            <a:off x="552450" y="2800350"/>
            <a:ext cx="3810000" cy="1695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1550" b="1">
                <a:solidFill>
                  <a:srgbClr val="3CC8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550" b="1" dirty="0">
                <a:solidFill>
                  <a:srgbClr val="3CC8D8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5" name="text-34">
            <a:extLst>
              <a:ext uri="{FF2B5EF4-FFF2-40B4-BE49-F238E27FC236}">
                <a16:creationId xmlns:a16="http://schemas.microsoft.com/office/drawing/2014/main" id="{F7E5E27F-F5AB-44FD-AC31-94F1BED7CD88}"/>
              </a:ext>
            </a:extLst>
          </p:cNvPr>
          <p:cNvSpPr>
            <a:spLocks noGrp="1"/>
          </p:cNvSpPr>
          <p:nvPr/>
        </p:nvSpPr>
        <p:spPr>
          <a:xfrm>
            <a:off x="638175" y="4467225"/>
            <a:ext cx="404812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 dirty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facilities</a:t>
            </a:r>
          </a:p>
        </p:txBody>
      </p:sp>
      <p:sp>
        <p:nvSpPr>
          <p:cNvPr id="6" name="text-35">
            <a:extLst>
              <a:ext uri="{FF2B5EF4-FFF2-40B4-BE49-F238E27FC236}">
                <a16:creationId xmlns:a16="http://schemas.microsoft.com/office/drawing/2014/main" id="{E1FBE35B-93C7-417A-9AB1-39ECE6DA26EB}"/>
              </a:ext>
            </a:extLst>
          </p:cNvPr>
          <p:cNvSpPr>
            <a:spLocks noGrp="1"/>
          </p:cNvSpPr>
          <p:nvPr/>
        </p:nvSpPr>
        <p:spPr>
          <a:xfrm>
            <a:off x="647700" y="5229225"/>
            <a:ext cx="47625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8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TMC + ZDHC study, April 2026</a:t>
            </a:r>
          </a:p>
        </p:txBody>
      </p:sp>
      <p:sp>
        <p:nvSpPr>
          <p:cNvPr id="7" name="text-36">
            <a:extLst>
              <a:ext uri="{FF2B5EF4-FFF2-40B4-BE49-F238E27FC236}">
                <a16:creationId xmlns:a16="http://schemas.microsoft.com/office/drawing/2014/main" id="{6F8D4799-21FB-4797-907D-7A2AB71FF32E}"/>
              </a:ext>
            </a:extLst>
          </p:cNvPr>
          <p:cNvSpPr>
            <a:spLocks noGrp="1"/>
          </p:cNvSpPr>
          <p:nvPr/>
        </p:nvSpPr>
        <p:spPr>
          <a:xfrm>
            <a:off x="5943600" y="3038475"/>
            <a:ext cx="56007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5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Can suspended solids stand in</a:t>
            </a:r>
          </a:p>
          <a:p>
            <a:pPr>
              <a:defRPr sz="25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for actual fibre counts?</a:t>
            </a:r>
          </a:p>
        </p:txBody>
      </p:sp>
      <p:sp>
        <p:nvSpPr>
          <p:cNvPr id="8" name="text-37">
            <a:extLst>
              <a:ext uri="{FF2B5EF4-FFF2-40B4-BE49-F238E27FC236}">
                <a16:creationId xmlns:a16="http://schemas.microsoft.com/office/drawing/2014/main" id="{A0288C81-1076-4A9F-BAD5-3A13B45ED133}"/>
              </a:ext>
            </a:extLst>
          </p:cNvPr>
          <p:cNvSpPr>
            <a:spLocks noGrp="1"/>
          </p:cNvSpPr>
          <p:nvPr/>
        </p:nvSpPr>
        <p:spPr>
          <a:xfrm>
            <a:off x="5962650" y="4219575"/>
            <a:ext cx="5524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adidas, lululemon, Primark and Tesco</a:t>
            </a:r>
          </a:p>
          <a:p>
            <a:pPr>
              <a:def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co-fund the second research phase.</a:t>
            </a:r>
          </a:p>
        </p:txBody>
      </p:sp>
      <p:sp>
        <p:nvSpPr>
          <p:cNvPr id="9" name="text-38">
            <a:extLst>
              <a:ext uri="{FF2B5EF4-FFF2-40B4-BE49-F238E27FC236}">
                <a16:creationId xmlns:a16="http://schemas.microsoft.com/office/drawing/2014/main" id="{C0447ABA-586C-4BDC-BA53-7F83AE9BBF86}"/>
              </a:ext>
            </a:extLst>
          </p:cNvPr>
          <p:cNvSpPr>
            <a:spLocks noGrp="1"/>
          </p:cNvSpPr>
          <p:nvPr/>
        </p:nvSpPr>
        <p:spPr>
          <a:xfrm>
            <a:off x="5962650" y="5314950"/>
            <a:ext cx="55245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Inditex also grades mills on whether</a:t>
            </a:r>
          </a:p>
          <a:p>
            <a:pPr>
              <a:def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they control fibre release.</a:t>
            </a:r>
          </a:p>
        </p:txBody>
      </p:sp>
      <p:sp>
        <p:nvSpPr>
          <p:cNvPr id="10" name="text-39">
            <a:extLst>
              <a:ext uri="{FF2B5EF4-FFF2-40B4-BE49-F238E27FC236}">
                <a16:creationId xmlns:a16="http://schemas.microsoft.com/office/drawing/2014/main" id="{C1CF175D-66FD-49AE-928D-177C9E0DA690}"/>
              </a:ext>
            </a:extLst>
          </p:cNvPr>
          <p:cNvSpPr>
            <a:spLocks noGrp="1"/>
          </p:cNvSpPr>
          <p:nvPr/>
        </p:nvSpPr>
        <p:spPr>
          <a:xfrm>
            <a:off x="647700" y="6315075"/>
            <a:ext cx="108775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12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Industry research and supplier standards. No universal mill discharge limit claimed.</a:t>
            </a:r>
          </a:p>
        </p:txBody>
      </p:sp>
    </p:spTree>
    <p:extLst>
      <p:ext uri="{BB962C8B-B14F-4D97-AF65-F5344CB8AC3E}">
        <p14:creationId xmlns:p14="http://schemas.microsoft.com/office/powerpoint/2010/main" val="1799443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40">
            <a:extLst>
              <a:ext uri="{FF2B5EF4-FFF2-40B4-BE49-F238E27FC236}">
                <a16:creationId xmlns:a16="http://schemas.microsoft.com/office/drawing/2014/main" id="{497182A1-45D5-4201-B882-57A6877EDF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525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TEAM</a:t>
            </a:r>
          </a:p>
        </p:txBody>
      </p:sp>
      <p:sp>
        <p:nvSpPr>
          <p:cNvPr id="2" name="text-41">
            <a:extLst>
              <a:ext uri="{FF2B5EF4-FFF2-40B4-BE49-F238E27FC236}">
                <a16:creationId xmlns:a16="http://schemas.microsoft.com/office/drawing/2014/main" id="{365A011D-695B-4168-9164-5E9B57AD76B9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text-42">
            <a:extLst>
              <a:ext uri="{FF2B5EF4-FFF2-40B4-BE49-F238E27FC236}">
                <a16:creationId xmlns:a16="http://schemas.microsoft.com/office/drawing/2014/main" id="{09B6FE37-A15E-4F71-BF3F-A33CEA60CC99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0953750" cy="1409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4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Factory engineering meets</a:t>
            </a:r>
          </a:p>
          <a:p>
            <a:pPr>
              <a:defRPr sz="4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textile industry access</a:t>
            </a:r>
          </a:p>
        </p:txBody>
      </p:sp>
      <p:sp>
        <p:nvSpPr>
          <p:cNvPr id="4" name="text-43">
            <a:extLst>
              <a:ext uri="{FF2B5EF4-FFF2-40B4-BE49-F238E27FC236}">
                <a16:creationId xmlns:a16="http://schemas.microsoft.com/office/drawing/2014/main" id="{28E920BD-D2F4-4BBF-B7D1-A658F9082814}"/>
              </a:ext>
            </a:extLst>
          </p:cNvPr>
          <p:cNvSpPr>
            <a:spLocks noGrp="1"/>
          </p:cNvSpPr>
          <p:nvPr/>
        </p:nvSpPr>
        <p:spPr>
          <a:xfrm>
            <a:off x="638175" y="2943225"/>
            <a:ext cx="5400675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Sandra Zalas</a:t>
            </a:r>
          </a:p>
        </p:txBody>
      </p:sp>
      <p:sp>
        <p:nvSpPr>
          <p:cNvPr id="5" name="text-44">
            <a:extLst>
              <a:ext uri="{FF2B5EF4-FFF2-40B4-BE49-F238E27FC236}">
                <a16:creationId xmlns:a16="http://schemas.microsoft.com/office/drawing/2014/main" id="{AE8715B5-D591-4D3F-8A9E-F3D10922F962}"/>
              </a:ext>
            </a:extLst>
          </p:cNvPr>
          <p:cNvSpPr>
            <a:spLocks noGrp="1"/>
          </p:cNvSpPr>
          <p:nvPr/>
        </p:nvSpPr>
        <p:spPr>
          <a:xfrm>
            <a:off x="647700" y="3638550"/>
            <a:ext cx="5238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725" b="1">
                <a:solidFill>
                  <a:srgbClr val="3CC8D8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GB" sz="1725" b="1" dirty="0">
                <a:solidFill>
                  <a:srgbClr val="3CC8D8"/>
                </a:solidFill>
                <a:latin typeface="Helvetica Neue"/>
                <a:ea typeface="Helvetica Neue"/>
                <a:cs typeface="Helvetica Neue"/>
              </a:rPr>
              <a:t>Co-Founder</a:t>
            </a:r>
            <a:endParaRPr sz="1725" b="1" dirty="0">
              <a:solidFill>
                <a:srgbClr val="3CC8D8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text-45">
            <a:extLst>
              <a:ext uri="{FF2B5EF4-FFF2-40B4-BE49-F238E27FC236}">
                <a16:creationId xmlns:a16="http://schemas.microsoft.com/office/drawing/2014/main" id="{53436694-1891-4F6E-8220-176DC9002E2E}"/>
              </a:ext>
            </a:extLst>
          </p:cNvPr>
          <p:cNvSpPr>
            <a:spLocks noGrp="1"/>
          </p:cNvSpPr>
          <p:nvPr/>
        </p:nvSpPr>
        <p:spPr>
          <a:xfrm>
            <a:off x="647700" y="4191000"/>
            <a:ext cx="5181600" cy="1123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Founder, Baltic Jungle Lab</a:t>
            </a:r>
          </a:p>
          <a:p>
            <a:pPr>
              <a:def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PFR School of Pioneers winner</a:t>
            </a:r>
          </a:p>
          <a:p>
            <a:pPr>
              <a:def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Led the brand discovery calls</a:t>
            </a:r>
          </a:p>
        </p:txBody>
      </p:sp>
      <p:sp>
        <p:nvSpPr>
          <p:cNvPr id="7" name="text-46">
            <a:extLst>
              <a:ext uri="{FF2B5EF4-FFF2-40B4-BE49-F238E27FC236}">
                <a16:creationId xmlns:a16="http://schemas.microsoft.com/office/drawing/2014/main" id="{B47240DB-21D1-4C0C-BFF3-4347038E8F9A}"/>
              </a:ext>
            </a:extLst>
          </p:cNvPr>
          <p:cNvSpPr>
            <a:spLocks noGrp="1"/>
          </p:cNvSpPr>
          <p:nvPr/>
        </p:nvSpPr>
        <p:spPr>
          <a:xfrm>
            <a:off x="6591300" y="2943225"/>
            <a:ext cx="50482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Izgin Ozdas</a:t>
            </a:r>
          </a:p>
        </p:txBody>
      </p:sp>
      <p:sp>
        <p:nvSpPr>
          <p:cNvPr id="8" name="text-47">
            <a:extLst>
              <a:ext uri="{FF2B5EF4-FFF2-40B4-BE49-F238E27FC236}">
                <a16:creationId xmlns:a16="http://schemas.microsoft.com/office/drawing/2014/main" id="{00EC6583-9994-434F-9838-5A89E7103501}"/>
              </a:ext>
            </a:extLst>
          </p:cNvPr>
          <p:cNvSpPr>
            <a:spLocks noGrp="1"/>
          </p:cNvSpPr>
          <p:nvPr/>
        </p:nvSpPr>
        <p:spPr>
          <a:xfrm>
            <a:off x="6610350" y="3638550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725" b="1">
                <a:solidFill>
                  <a:srgbClr val="3CC8D8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GB" sz="1725" b="1" dirty="0">
                <a:solidFill>
                  <a:srgbClr val="3CC8D8"/>
                </a:solidFill>
                <a:latin typeface="Helvetica Neue"/>
                <a:ea typeface="Helvetica Neue"/>
                <a:cs typeface="Helvetica Neue"/>
              </a:rPr>
              <a:t>Co-Founder</a:t>
            </a:r>
            <a:endParaRPr sz="1725" b="1" dirty="0">
              <a:solidFill>
                <a:srgbClr val="3CC8D8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C87D8C7B-8E6B-4121-A791-F3EDE6593A88}"/>
              </a:ext>
            </a:extLst>
          </p:cNvPr>
          <p:cNvSpPr>
            <a:spLocks noGrp="1"/>
          </p:cNvSpPr>
          <p:nvPr/>
        </p:nvSpPr>
        <p:spPr>
          <a:xfrm>
            <a:off x="6610350" y="4191000"/>
            <a:ext cx="4857750" cy="1123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GB" sz="1950" b="0" dirty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Cryogenics Manufacturing </a:t>
            </a:r>
            <a:r>
              <a:rPr sz="1950" b="0" dirty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at IMTEK</a:t>
            </a:r>
          </a:p>
          <a:p>
            <a:pPr>
              <a:def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 dirty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Cambridge</a:t>
            </a:r>
            <a:r>
              <a:rPr lang="en-GB" sz="1950" b="0" dirty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 Masters, </a:t>
            </a:r>
            <a:r>
              <a:rPr lang="en-GB" sz="1950" b="0" dirty="0" err="1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GaTech</a:t>
            </a:r>
            <a:r>
              <a:rPr lang="en-GB" sz="1950" b="0" dirty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 Me </a:t>
            </a:r>
            <a:r>
              <a:rPr lang="en-GB" sz="1950" b="0" dirty="0" err="1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UnderGrad</a:t>
            </a:r>
            <a:endParaRPr sz="1950" b="0" dirty="0">
              <a:solidFill>
                <a:srgbClr val="E9E4D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0E405B62-9D7F-4160-9CE8-AF57D7B3B373}"/>
              </a:ext>
            </a:extLst>
          </p:cNvPr>
          <p:cNvSpPr>
            <a:spLocks noGrp="1"/>
          </p:cNvSpPr>
          <p:nvPr/>
        </p:nvSpPr>
        <p:spPr>
          <a:xfrm>
            <a:off x="647700" y="5667375"/>
            <a:ext cx="10858500" cy="0"/>
          </a:xfrm>
          <a:prstGeom prst="line">
            <a:avLst/>
          </a:prstGeom>
          <a:noFill/>
          <a:ln w="9525">
            <a:solidFill>
              <a:srgbClr val="3431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-49">
            <a:extLst>
              <a:ext uri="{FF2B5EF4-FFF2-40B4-BE49-F238E27FC236}">
                <a16:creationId xmlns:a16="http://schemas.microsoft.com/office/drawing/2014/main" id="{CD8A1602-C336-4792-A78E-035E081AEFF6}"/>
              </a:ext>
            </a:extLst>
          </p:cNvPr>
          <p:cNvSpPr>
            <a:spLocks noGrp="1"/>
          </p:cNvSpPr>
          <p:nvPr/>
        </p:nvSpPr>
        <p:spPr>
          <a:xfrm>
            <a:off x="647700" y="5886450"/>
            <a:ext cx="10858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6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Engineering: Jeffrey Chang, ML  /  Irfan Ali, textile data</a:t>
            </a:r>
          </a:p>
        </p:txBody>
      </p:sp>
      <p:sp>
        <p:nvSpPr>
          <p:cNvPr id="12" name="text-50">
            <a:extLst>
              <a:ext uri="{FF2B5EF4-FFF2-40B4-BE49-F238E27FC236}">
                <a16:creationId xmlns:a16="http://schemas.microsoft.com/office/drawing/2014/main" id="{E82A6A19-C31F-4A71-B294-01D527113FBE}"/>
              </a:ext>
            </a:extLst>
          </p:cNvPr>
          <p:cNvSpPr>
            <a:spLocks noGrp="1"/>
          </p:cNvSpPr>
          <p:nvPr/>
        </p:nvSpPr>
        <p:spPr>
          <a:xfrm>
            <a:off x="647700" y="6343650"/>
            <a:ext cx="10858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Proposed advisors: Manu Prakash, Sam Brooks, Daniel Theobald. Naming approval pending.</a:t>
            </a:r>
          </a:p>
        </p:txBody>
      </p:sp>
    </p:spTree>
    <p:extLst>
      <p:ext uri="{BB962C8B-B14F-4D97-AF65-F5344CB8AC3E}">
        <p14:creationId xmlns:p14="http://schemas.microsoft.com/office/powerpoint/2010/main" val="1212483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-51">
            <a:extLst>
              <a:ext uri="{FF2B5EF4-FFF2-40B4-BE49-F238E27FC236}">
                <a16:creationId xmlns:a16="http://schemas.microsoft.com/office/drawing/2014/main" id="{D2358F55-A3EA-4E2F-B48D-DFF429EB2A5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525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TRACTION</a:t>
            </a:r>
          </a:p>
        </p:txBody>
      </p:sp>
      <p:sp>
        <p:nvSpPr>
          <p:cNvPr id="2" name="text-52">
            <a:extLst>
              <a:ext uri="{FF2B5EF4-FFF2-40B4-BE49-F238E27FC236}">
                <a16:creationId xmlns:a16="http://schemas.microsoft.com/office/drawing/2014/main" id="{E3056BB3-1387-4CBD-9996-9917158042E8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text-53">
            <a:extLst>
              <a:ext uri="{FF2B5EF4-FFF2-40B4-BE49-F238E27FC236}">
                <a16:creationId xmlns:a16="http://schemas.microsoft.com/office/drawing/2014/main" id="{A2DD93C7-5E36-4804-89C0-8AF8C283FF02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858500" cy="1447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Industry conversations</a:t>
            </a:r>
          </a:p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are opening doors</a:t>
            </a:r>
          </a:p>
        </p:txBody>
      </p:sp>
      <p:sp>
        <p:nvSpPr>
          <p:cNvPr id="4" name="text-54">
            <a:extLst>
              <a:ext uri="{FF2B5EF4-FFF2-40B4-BE49-F238E27FC236}">
                <a16:creationId xmlns:a16="http://schemas.microsoft.com/office/drawing/2014/main" id="{3AD15CBC-5391-46D0-8DCB-D25903147AA5}"/>
              </a:ext>
            </a:extLst>
          </p:cNvPr>
          <p:cNvSpPr>
            <a:spLocks noGrp="1"/>
          </p:cNvSpPr>
          <p:nvPr/>
        </p:nvSpPr>
        <p:spPr>
          <a:xfrm>
            <a:off x="647700" y="2867025"/>
            <a:ext cx="30956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adidas</a:t>
            </a:r>
          </a:p>
        </p:txBody>
      </p:sp>
      <p:sp>
        <p:nvSpPr>
          <p:cNvPr id="5" name="text-55">
            <a:extLst>
              <a:ext uri="{FF2B5EF4-FFF2-40B4-BE49-F238E27FC236}">
                <a16:creationId xmlns:a16="http://schemas.microsoft.com/office/drawing/2014/main" id="{1240AAFE-FECA-4716-8272-7E64379032B5}"/>
              </a:ext>
            </a:extLst>
          </p:cNvPr>
          <p:cNvSpPr>
            <a:spLocks noGrp="1"/>
          </p:cNvSpPr>
          <p:nvPr/>
        </p:nvSpPr>
        <p:spPr>
          <a:xfrm>
            <a:off x="4105275" y="2867025"/>
            <a:ext cx="73818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“This is the first time I’ve come across such a device.”</a:t>
            </a:r>
          </a:p>
        </p:txBody>
      </p:sp>
      <p:sp>
        <p:nvSpPr>
          <p:cNvPr id="6" name="text-56">
            <a:extLst>
              <a:ext uri="{FF2B5EF4-FFF2-40B4-BE49-F238E27FC236}">
                <a16:creationId xmlns:a16="http://schemas.microsoft.com/office/drawing/2014/main" id="{B46B0735-35C4-452D-B550-4F4E06A73C70}"/>
              </a:ext>
            </a:extLst>
          </p:cNvPr>
          <p:cNvSpPr>
            <a:spLocks noGrp="1"/>
          </p:cNvSpPr>
          <p:nvPr/>
        </p:nvSpPr>
        <p:spPr>
          <a:xfrm>
            <a:off x="4124325" y="3362325"/>
            <a:ext cx="735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7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Partner introductions conditional on a working prototype.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693F705A-B537-4F1E-997B-148FACD32D6D}"/>
              </a:ext>
            </a:extLst>
          </p:cNvPr>
          <p:cNvSpPr>
            <a:spLocks noGrp="1"/>
          </p:cNvSpPr>
          <p:nvPr/>
        </p:nvSpPr>
        <p:spPr>
          <a:xfrm>
            <a:off x="647700" y="3895725"/>
            <a:ext cx="10858500" cy="0"/>
          </a:xfrm>
          <a:prstGeom prst="line">
            <a:avLst/>
          </a:prstGeom>
          <a:noFill/>
          <a:ln w="9525">
            <a:solidFill>
              <a:srgbClr val="3431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text-57">
            <a:extLst>
              <a:ext uri="{FF2B5EF4-FFF2-40B4-BE49-F238E27FC236}">
                <a16:creationId xmlns:a16="http://schemas.microsoft.com/office/drawing/2014/main" id="{B69F79CE-5A93-42E9-949D-DCAA5854DB1E}"/>
              </a:ext>
            </a:extLst>
          </p:cNvPr>
          <p:cNvSpPr>
            <a:spLocks noGrp="1"/>
          </p:cNvSpPr>
          <p:nvPr/>
        </p:nvSpPr>
        <p:spPr>
          <a:xfrm>
            <a:off x="647700" y="4076700"/>
            <a:ext cx="30956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H&amp;M Group</a:t>
            </a:r>
          </a:p>
        </p:txBody>
      </p:sp>
      <p:sp>
        <p:nvSpPr>
          <p:cNvPr id="9" name="text-58">
            <a:extLst>
              <a:ext uri="{FF2B5EF4-FFF2-40B4-BE49-F238E27FC236}">
                <a16:creationId xmlns:a16="http://schemas.microsoft.com/office/drawing/2014/main" id="{7EC42F49-1ED9-4A3C-A574-9514EAA04F93}"/>
              </a:ext>
            </a:extLst>
          </p:cNvPr>
          <p:cNvSpPr>
            <a:spLocks noGrp="1"/>
          </p:cNvSpPr>
          <p:nvPr/>
        </p:nvSpPr>
        <p:spPr>
          <a:xfrm>
            <a:off x="4105275" y="4076700"/>
            <a:ext cx="73818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“No one is… monitoring.”</a:t>
            </a:r>
          </a:p>
        </p:txBody>
      </p:sp>
      <p:sp>
        <p:nvSpPr>
          <p:cNvPr id="10" name="text-59">
            <a:extLst>
              <a:ext uri="{FF2B5EF4-FFF2-40B4-BE49-F238E27FC236}">
                <a16:creationId xmlns:a16="http://schemas.microsoft.com/office/drawing/2014/main" id="{3815C7E9-22D2-4D79-B483-3D9D42A1A9AD}"/>
              </a:ext>
            </a:extLst>
          </p:cNvPr>
          <p:cNvSpPr>
            <a:spLocks noGrp="1"/>
          </p:cNvSpPr>
          <p:nvPr/>
        </p:nvSpPr>
        <p:spPr>
          <a:xfrm>
            <a:off x="4124325" y="4572000"/>
            <a:ext cx="735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7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Open to exploring access to a supplier site.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DC472DB5-4655-4773-9BAD-464EEE8023F0}"/>
              </a:ext>
            </a:extLst>
          </p:cNvPr>
          <p:cNvSpPr>
            <a:spLocks noGrp="1"/>
          </p:cNvSpPr>
          <p:nvPr/>
        </p:nvSpPr>
        <p:spPr>
          <a:xfrm>
            <a:off x="647700" y="5105400"/>
            <a:ext cx="10858500" cy="0"/>
          </a:xfrm>
          <a:prstGeom prst="line">
            <a:avLst/>
          </a:prstGeom>
          <a:noFill/>
          <a:ln w="9525">
            <a:solidFill>
              <a:srgbClr val="3431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-60">
            <a:extLst>
              <a:ext uri="{FF2B5EF4-FFF2-40B4-BE49-F238E27FC236}">
                <a16:creationId xmlns:a16="http://schemas.microsoft.com/office/drawing/2014/main" id="{C8F27520-D95A-42E3-B656-1CCEE2CD3620}"/>
              </a:ext>
            </a:extLst>
          </p:cNvPr>
          <p:cNvSpPr>
            <a:spLocks noGrp="1"/>
          </p:cNvSpPr>
          <p:nvPr/>
        </p:nvSpPr>
        <p:spPr>
          <a:xfrm>
            <a:off x="647700" y="5286375"/>
            <a:ext cx="309562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Matter</a:t>
            </a:r>
          </a:p>
        </p:txBody>
      </p:sp>
      <p:sp>
        <p:nvSpPr>
          <p:cNvPr id="13" name="text-61">
            <a:extLst>
              <a:ext uri="{FF2B5EF4-FFF2-40B4-BE49-F238E27FC236}">
                <a16:creationId xmlns:a16="http://schemas.microsoft.com/office/drawing/2014/main" id="{EDFE9210-72B7-4C7C-994B-37D9D3A9BDFE}"/>
              </a:ext>
            </a:extLst>
          </p:cNvPr>
          <p:cNvSpPr>
            <a:spLocks noGrp="1"/>
          </p:cNvSpPr>
          <p:nvPr/>
        </p:nvSpPr>
        <p:spPr>
          <a:xfrm>
            <a:off x="4105275" y="5286375"/>
            <a:ext cx="7381875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Technical conversations under NDA</a:t>
            </a:r>
          </a:p>
        </p:txBody>
      </p:sp>
      <p:sp>
        <p:nvSpPr>
          <p:cNvPr id="14" name="text-62">
            <a:extLst>
              <a:ext uri="{FF2B5EF4-FFF2-40B4-BE49-F238E27FC236}">
                <a16:creationId xmlns:a16="http://schemas.microsoft.com/office/drawing/2014/main" id="{A9710341-04D6-4310-9DF2-8F39A84331A2}"/>
              </a:ext>
            </a:extLst>
          </p:cNvPr>
          <p:cNvSpPr>
            <a:spLocks noGrp="1"/>
          </p:cNvSpPr>
          <p:nvPr/>
        </p:nvSpPr>
        <p:spPr>
          <a:xfrm>
            <a:off x="4124325" y="5781675"/>
            <a:ext cx="73533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7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Industrial microfibre filtration.</a:t>
            </a:r>
          </a:p>
        </p:txBody>
      </p:sp>
      <p:sp>
        <p:nvSpPr>
          <p:cNvPr id="15" name="text-63">
            <a:extLst>
              <a:ext uri="{FF2B5EF4-FFF2-40B4-BE49-F238E27FC236}">
                <a16:creationId xmlns:a16="http://schemas.microsoft.com/office/drawing/2014/main" id="{EFB2F073-2588-433B-AFFC-8B51A520E4C1}"/>
              </a:ext>
            </a:extLst>
          </p:cNvPr>
          <p:cNvSpPr>
            <a:spLocks noGrp="1"/>
          </p:cNvSpPr>
          <p:nvPr/>
        </p:nvSpPr>
        <p:spPr>
          <a:xfrm>
            <a:off x="647700" y="6419850"/>
            <a:ext cx="108585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350" b="0">
                <a:solidFill>
                  <a:srgbClr val="3CC8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3CC8D8"/>
                </a:solidFill>
                <a:latin typeface="Helvetica Neue"/>
                <a:ea typeface="Helvetica Neue"/>
                <a:cs typeface="Helvetica Neue"/>
              </a:rPr>
              <a:t>Pre-revenue. Pre-funding. No signed LOI or paid pilot.</a:t>
            </a:r>
          </a:p>
        </p:txBody>
      </p:sp>
    </p:spTree>
    <p:extLst>
      <p:ext uri="{BB962C8B-B14F-4D97-AF65-F5344CB8AC3E}">
        <p14:creationId xmlns:p14="http://schemas.microsoft.com/office/powerpoint/2010/main" val="2057242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-64">
            <a:extLst>
              <a:ext uri="{FF2B5EF4-FFF2-40B4-BE49-F238E27FC236}">
                <a16:creationId xmlns:a16="http://schemas.microsoft.com/office/drawing/2014/main" id="{16D8B565-783F-4F58-83D6-15F83ED9C4B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95250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WHY THE FUTURE</a:t>
            </a:r>
          </a:p>
        </p:txBody>
      </p:sp>
      <p:sp>
        <p:nvSpPr>
          <p:cNvPr id="2" name="text-65">
            <a:extLst>
              <a:ext uri="{FF2B5EF4-FFF2-40B4-BE49-F238E27FC236}">
                <a16:creationId xmlns:a16="http://schemas.microsoft.com/office/drawing/2014/main" id="{58B3FEC6-15BB-4E6D-82CD-2FC464481EB8}"/>
              </a:ext>
            </a:extLst>
          </p:cNvPr>
          <p:cNvSpPr>
            <a:spLocks noGrp="1"/>
          </p:cNvSpPr>
          <p:nvPr/>
        </p:nvSpPr>
        <p:spPr>
          <a:xfrm>
            <a:off x="11049000" y="400050"/>
            <a:ext cx="523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text-66">
            <a:extLst>
              <a:ext uri="{FF2B5EF4-FFF2-40B4-BE49-F238E27FC236}">
                <a16:creationId xmlns:a16="http://schemas.microsoft.com/office/drawing/2014/main" id="{E9B5D07F-8267-4AB1-B2D7-49A49682CC29}"/>
              </a:ext>
            </a:extLst>
          </p:cNvPr>
          <p:cNvSpPr>
            <a:spLocks noGrp="1"/>
          </p:cNvSpPr>
          <p:nvPr/>
        </p:nvSpPr>
        <p:spPr>
          <a:xfrm>
            <a:off x="609600" y="990600"/>
            <a:ext cx="10858500" cy="1438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Every dye machine first.</a:t>
            </a:r>
          </a:p>
          <a:p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Industrial liquids next.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A2611057-A9F1-4DAE-BC25-43AF0F3EFD0D}"/>
              </a:ext>
            </a:extLst>
          </p:cNvPr>
          <p:cNvSpPr>
            <a:spLocks noGrp="1"/>
          </p:cNvSpPr>
          <p:nvPr/>
        </p:nvSpPr>
        <p:spPr>
          <a:xfrm>
            <a:off x="552450" y="2771775"/>
            <a:ext cx="6810375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8400" b="1">
                <a:solidFill>
                  <a:srgbClr val="3CC8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400" b="1">
                <a:solidFill>
                  <a:srgbClr val="3CC8D8"/>
                </a:solidFill>
                <a:latin typeface="Helvetica Neue"/>
                <a:ea typeface="Helvetica Neue"/>
                <a:cs typeface="Helvetica Neue"/>
              </a:rPr>
              <a:t>50–150k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EFA4804A-5A03-4904-A948-6B39E37F265F}"/>
              </a:ext>
            </a:extLst>
          </p:cNvPr>
          <p:cNvSpPr>
            <a:spLocks noGrp="1"/>
          </p:cNvSpPr>
          <p:nvPr/>
        </p:nvSpPr>
        <p:spPr>
          <a:xfrm>
            <a:off x="638175" y="4219575"/>
            <a:ext cx="70104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4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dyeing machines in service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0BAF2392-2E82-41E7-BA5F-76446C674F2C}"/>
              </a:ext>
            </a:extLst>
          </p:cNvPr>
          <p:cNvSpPr>
            <a:spLocks noGrp="1"/>
          </p:cNvSpPr>
          <p:nvPr/>
        </p:nvSpPr>
        <p:spPr>
          <a:xfrm>
            <a:off x="657225" y="4772025"/>
            <a:ext cx="6191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72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Estimated installed base</a:t>
            </a:r>
          </a:p>
        </p:txBody>
      </p:sp>
      <p:sp>
        <p:nvSpPr>
          <p:cNvPr id="7" name="text-70">
            <a:extLst>
              <a:ext uri="{FF2B5EF4-FFF2-40B4-BE49-F238E27FC236}">
                <a16:creationId xmlns:a16="http://schemas.microsoft.com/office/drawing/2014/main" id="{07FA5B9E-F9F3-4DAE-84F4-8A3F273014E9}"/>
              </a:ext>
            </a:extLst>
          </p:cNvPr>
          <p:cNvSpPr>
            <a:spLocks noGrp="1"/>
          </p:cNvSpPr>
          <p:nvPr/>
        </p:nvSpPr>
        <p:spPr>
          <a:xfrm>
            <a:off x="8172450" y="3105150"/>
            <a:ext cx="3524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5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$60–450M</a:t>
            </a:r>
          </a:p>
        </p:txBody>
      </p:sp>
      <p:sp>
        <p:nvSpPr>
          <p:cNvPr id="8" name="text-71">
            <a:extLst>
              <a:ext uri="{FF2B5EF4-FFF2-40B4-BE49-F238E27FC236}">
                <a16:creationId xmlns:a16="http://schemas.microsoft.com/office/drawing/2014/main" id="{600C5CD5-48A3-453B-A5A1-EC4FB2E238F0}"/>
              </a:ext>
            </a:extLst>
          </p:cNvPr>
          <p:cNvSpPr>
            <a:spLocks noGrp="1"/>
          </p:cNvSpPr>
          <p:nvPr/>
        </p:nvSpPr>
        <p:spPr>
          <a:xfrm>
            <a:off x="8201025" y="3857625"/>
            <a:ext cx="33528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annual software opportunity</a:t>
            </a:r>
          </a:p>
          <a:p>
            <a:pPr>
              <a:def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at full modelled adoption</a:t>
            </a:r>
          </a:p>
        </p:txBody>
      </p:sp>
      <p:sp>
        <p:nvSpPr>
          <p:cNvPr id="9" name="text-72">
            <a:extLst>
              <a:ext uri="{FF2B5EF4-FFF2-40B4-BE49-F238E27FC236}">
                <a16:creationId xmlns:a16="http://schemas.microsoft.com/office/drawing/2014/main" id="{AF25E79B-3934-4FCE-92D0-FCF07A2AB970}"/>
              </a:ext>
            </a:extLst>
          </p:cNvPr>
          <p:cNvSpPr>
            <a:spLocks noGrp="1"/>
          </p:cNvSpPr>
          <p:nvPr/>
        </p:nvSpPr>
        <p:spPr>
          <a:xfrm>
            <a:off x="657225" y="5324475"/>
            <a:ext cx="10810875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Fibre measurement is the first application.</a:t>
            </a:r>
          </a:p>
          <a:p>
            <a:pPr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ambition is observability for physical processes.</a:t>
            </a:r>
          </a:p>
        </p:txBody>
      </p:sp>
      <p:sp>
        <p:nvSpPr>
          <p:cNvPr id="10" name="text-73">
            <a:extLst>
              <a:ext uri="{FF2B5EF4-FFF2-40B4-BE49-F238E27FC236}">
                <a16:creationId xmlns:a16="http://schemas.microsoft.com/office/drawing/2014/main" id="{F88DFC39-178B-4270-8D5F-8A6D9AEC8628}"/>
              </a:ext>
            </a:extLst>
          </p:cNvPr>
          <p:cNvSpPr>
            <a:spLocks noGrp="1"/>
          </p:cNvSpPr>
          <p:nvPr/>
        </p:nvSpPr>
        <p:spPr>
          <a:xfrm>
            <a:off x="657225" y="6238875"/>
            <a:ext cx="10858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12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A7A5AE"/>
                </a:solidFill>
                <a:latin typeface="Helvetica Neue"/>
                <a:ea typeface="Helvetica Neue"/>
                <a:cs typeface="Helvetica Neue"/>
              </a:rPr>
              <a:t>Scenario: 50–150k machines × $100–250/month. Assumptions, not a revenue forecast.</a:t>
            </a:r>
          </a:p>
        </p:txBody>
      </p:sp>
      <p:sp>
        <p:nvSpPr>
          <p:cNvPr id="11" name="text-74">
            <a:extLst>
              <a:ext uri="{FF2B5EF4-FFF2-40B4-BE49-F238E27FC236}">
                <a16:creationId xmlns:a16="http://schemas.microsoft.com/office/drawing/2014/main" id="{0D015030-D1C3-4098-A815-DB1D9C141179}"/>
              </a:ext>
            </a:extLst>
          </p:cNvPr>
          <p:cNvSpPr>
            <a:spLocks noGrp="1"/>
          </p:cNvSpPr>
          <p:nvPr/>
        </p:nvSpPr>
        <p:spPr>
          <a:xfrm>
            <a:off x="657225" y="6515100"/>
            <a:ext cx="10858500" cy="219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12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E9E4D6"/>
                </a:solidFill>
                <a:latin typeface="Helvetica Neue"/>
                <a:ea typeface="Helvetica Neue"/>
                <a:cs typeface="Helvetica Neue"/>
              </a:rPr>
              <a:t>Next: validate optical contrast, then a plant pilot. Funding target to be confirmed.</a:t>
            </a:r>
          </a:p>
        </p:txBody>
      </p:sp>
    </p:spTree>
    <p:extLst>
      <p:ext uri="{BB962C8B-B14F-4D97-AF65-F5344CB8AC3E}">
        <p14:creationId xmlns:p14="http://schemas.microsoft.com/office/powerpoint/2010/main" val="184002092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1525</Words>
  <Application>Microsoft Macintosh PowerPoint</Application>
  <DocSecurity>0</DocSecurity>
  <PresentationFormat>Widescreen</PresentationFormat>
  <Paragraphs>126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Calibri</vt:lpstr>
      <vt:lpstr>Helvetica Neue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Izgin Ozdas</cp:lastModifiedBy>
  <cp:revision>1</cp:revision>
  <dcterms:created xsi:type="dcterms:W3CDTF">2026-09-15T03:11:10Z</dcterms:created>
  <dcterms:modified xsi:type="dcterms:W3CDTF">2026-09-15T05:26:54Z</dcterms:modified>
</cp:coreProperties>
</file>