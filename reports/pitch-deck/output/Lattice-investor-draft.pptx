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fa1d41f02d45aa" /><Relationship Type="http://schemas.openxmlformats.org/officeDocument/2006/relationships/extended-properties" Target="/docProps/app.xml" Id="R4d48dd210d124996" /><Relationship Type="http://schemas.openxmlformats.org/officeDocument/2006/relationships/officeDocument" Target="/ppt/presentation.xml" Id="Raced5fd7372d49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9181025c424686"/>
  </p:sldMasterIdLst>
  <p:notesMasterIdLst>
    <p:notesMasterId xmlns:r="http://schemas.openxmlformats.org/officeDocument/2006/relationships" r:id="Rc28d3ebfcabf499a"/>
  </p:notesMasterIdLst>
  <p:sldIdLst>
    <p:sldId xmlns:r="http://schemas.openxmlformats.org/officeDocument/2006/relationships" id="256" r:id="Rea60fadba9bc4f81"/>
    <p:sldId xmlns:r="http://schemas.openxmlformats.org/officeDocument/2006/relationships" id="257" r:id="R4a0cfed4b27b4e38"/>
    <p:sldId xmlns:r="http://schemas.openxmlformats.org/officeDocument/2006/relationships" id="258" r:id="R27ef08deff014225"/>
    <p:sldId xmlns:r="http://schemas.openxmlformats.org/officeDocument/2006/relationships" id="259" r:id="Re7ca781f7e854b6a"/>
    <p:sldId xmlns:r="http://schemas.openxmlformats.org/officeDocument/2006/relationships" id="260" r:id="R2de006bb37874051"/>
    <p:sldId xmlns:r="http://schemas.openxmlformats.org/officeDocument/2006/relationships" id="261" r:id="Rdc98c98f3d2146bb"/>
    <p:sldId xmlns:r="http://schemas.openxmlformats.org/officeDocument/2006/relationships" id="262" r:id="Ra2eeeea731704f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9277c130e94e62" /><Relationship Type="http://schemas.openxmlformats.org/officeDocument/2006/relationships/slideMaster" Target="/ppt/slideMasters/slideMaster1.xml" Id="R199181025c424686" /><Relationship Type="http://schemas.openxmlformats.org/officeDocument/2006/relationships/notesMaster" Target="/ppt/notesMasters/notesMaster1.xml" Id="Rc28d3ebfcabf499a" /><Relationship Type="http://schemas.openxmlformats.org/officeDocument/2006/relationships/presProps" Target="/ppt/presProps.xml" Id="Re2bf68c83272407c" /><Relationship Type="http://schemas.openxmlformats.org/officeDocument/2006/relationships/tableStyles" Target="/ppt/tableStyles.xml" Id="R80d5a6d8291b47ee" /><Relationship Type="http://schemas.openxmlformats.org/officeDocument/2006/relationships/slide" Target="/ppt/slides/slide1.xml" Id="Rea60fadba9bc4f81" /><Relationship Type="http://schemas.openxmlformats.org/officeDocument/2006/relationships/slide" Target="/ppt/slides/slide2.xml" Id="R4a0cfed4b27b4e38" /><Relationship Type="http://schemas.openxmlformats.org/officeDocument/2006/relationships/slide" Target="/ppt/slides/slide3.xml" Id="R27ef08deff014225" /><Relationship Type="http://schemas.openxmlformats.org/officeDocument/2006/relationships/slide" Target="/ppt/slides/slide4.xml" Id="Re7ca781f7e854b6a" /><Relationship Type="http://schemas.openxmlformats.org/officeDocument/2006/relationships/slide" Target="/ppt/slides/slide5.xml" Id="R2de006bb37874051" /><Relationship Type="http://schemas.openxmlformats.org/officeDocument/2006/relationships/slide" Target="/ppt/slides/slide6.xml" Id="Rdc98c98f3d2146bb" /><Relationship Type="http://schemas.openxmlformats.org/officeDocument/2006/relationships/slide" Target="/ppt/slides/slide7.xml" Id="Ra2eeeea731704f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43aa85d0b24c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eae72145654571" /><Relationship Type="http://schemas.openxmlformats.org/officeDocument/2006/relationships/notesMaster" Target="/ppt/notesMasters/notesMaster1.xml" Id="Re671d0b397184b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4367ec6c8f4349" /><Relationship Type="http://schemas.openxmlformats.org/officeDocument/2006/relationships/notesMaster" Target="/ppt/notesMasters/notesMaster1.xml" Id="R1e4f58cb9ca94e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962555273b4593" /><Relationship Type="http://schemas.openxmlformats.org/officeDocument/2006/relationships/notesMaster" Target="/ppt/notesMasters/notesMaster1.xml" Id="R73d8992742b749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d18491eb094210" /><Relationship Type="http://schemas.openxmlformats.org/officeDocument/2006/relationships/notesMaster" Target="/ppt/notesMasters/notesMaster1.xml" Id="R367068e1263f4a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ca442a2b41439b" /><Relationship Type="http://schemas.openxmlformats.org/officeDocument/2006/relationships/notesMaster" Target="/ppt/notesMasters/notesMaster1.xml" Id="Re15923c98f9147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87c0f9f9964ec7" /><Relationship Type="http://schemas.openxmlformats.org/officeDocument/2006/relationships/notesMaster" Target="/ppt/notesMasters/notesMaster1.xml" Id="Rc0d9f998df364e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75bd5e04484b8b" /><Relationship Type="http://schemas.openxmlformats.org/officeDocument/2006/relationships/notesMaster" Target="/ppt/notesMasters/notesMaster1.xml" Id="Re3b81c04c23f44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reports/outreach/copy/pitch.md, 2026-09-14. Editorial draft from the existing investor brief.</a:t>
            </a:r>
          </a:p>
          <a:p xmlns:a="http://schemas.openxmlformats.org/drawingml/2006/main">
            <a:r>
              <a:t>Lattice is the working company name in the founder brief. Opening: Textile manufacturing needs a microfibre number while the process can still respond. We are developing measurement at the dye-machine outlet. The technology is pre-prototype, not a validated product.</a:t>
            </a:r>
          </a:p>
          <a:p xmlns:a="http://schemas.openxmlformats.org/drawingml/2006/main">
            <a:r>
              <a:t>Cover artwork generated with OpenAI image generation: false-colour violet textile fibre on black, cream pixel dithering and cyan detection highlight. Conceptual brand artwork, not laboratory evidence.</a:t>
            </a:r>
          </a:p>
          <a:p xmlns:a="http://schemas.openxmlformats.org/drawingml/2006/main">
            <a:r>
              <a:t>Name/relationship to Baltic Jungle Lab remains a founder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reports/outreach/copy/pitch.md, 2026-09-14. Editorial draft from the existing investor brief.</a:t>
            </a:r>
          </a:p>
          <a:p xmlns:a="http://schemas.openxmlformats.org/drawingml/2006/main">
            <a:r>
              <a:t>Evidence E7: H&amp;M supplier wastewater control uses TSS (30 mg/L), not fibre counts. The team reported that it does not necessarily control microfibre directly. Quote kept in context.</a:t>
            </a:r>
          </a:p>
          <a:p xmlns:a="http://schemas.openxmlformats.org/drawingml/2006/main">
            <a:r>
              <a:t>Evidence E15: Measurlabs micro-Raman wastewater analysis, €390 per sample plus €97 order fee, results four weeks after receipt. This is one commercial example, not a universal turnaround. https://measurlabs.com/products/microplastics-in-water-and-wastewater-micro-raman/</a:t>
            </a:r>
          </a:p>
          <a:p xmlns:a="http://schemas.openxmlformats.org/drawingml/2006/main">
            <a:r>
              <a:t>Sources: reports/03-validation/evidence.md, E3, E7, E15.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reports/outreach/copy/pitch.md, 2026-09-14. Editorial draft from the existing investor brief.</a:t>
            </a:r>
          </a:p>
          <a:p xmlns:a="http://schemas.openxmlformats.org/drawingml/2006/main">
            <a:r>
              <a:t>Proposed at-line architecture from the optical technology brief, 2026-09-07, private/tech/optical-tech-brief-2026-09-07.pdf. Discharge bypass, conditioning, membrane capture, polarised imaging, classifier, output linked to stage, batch and machine.</a:t>
            </a:r>
          </a:p>
          <a:p xmlns:a="http://schemas.openxmlformats.org/drawingml/2006/main">
            <a:r>
              <a:t>Count and size first. Synthetic versus natural classification remains a testable technical target. Do not claim that natural fibres universally stay dark under crossed polarisers. Do not assert polymer identity, accuracy or a measured response time.</a:t>
            </a:r>
          </a:p>
          <a:p xmlns:a="http://schemas.openxmlformats.org/drawingml/2006/main">
            <a:r>
              <a:t>Evidence E10: adidas prioritises size distribution and identifies contrast/background noise in dyed effluent as a key risk. Evidence E8: interest in before/after ETP measurement without flow stoppage.</a:t>
            </a:r>
          </a:p>
          <a:p xmlns:a="http://schemas.openxmlformats.org/drawingml/2006/main">
            <a:r>
              <a:t>Current state in the source brief: imaging-rig design exists. Stage 0 has not run and the lab kit is planned after investment.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reports/outreach/copy/pitch.md, 2026-09-14. Editorial draft from the existing investor brief.</a:t>
            </a:r>
          </a:p>
          <a:p xmlns:a="http://schemas.openxmlformats.org/drawingml/2006/main">
            <a:r>
              <a:t>Evidence E13: The Microfibre Consortium and ZDHC launched Phase 2 research at 15 facilities, co-funded by adidas, lululemon, Primark and Tesco, comparing TSS with image-based fibre counts. https://www.roadmaptozero.com/post/the-microfibre-consortium-and-zdhc-advance-joint-research-to-strengthen-wastewater-monitoring-of-fibre-fragmentation</a:t>
            </a:r>
          </a:p>
          <a:p xmlns:a="http://schemas.openxmlformats.org/drawingml/2006/main">
            <a:r>
              <a:t>Evidence E4: Inditex Green to Wear 3.2, July 2026, B-ranking criterion for fibres/microfibres released without internal control. This is a supplier grading requirement, not a demand for a numerical fibre count.</a:t>
            </a:r>
          </a:p>
          <a:p xmlns:a="http://schemas.openxmlformats.org/drawingml/2006/main">
            <a:r>
              <a:t>Evidence E14: TMC/ZDHC state intent to set maximum allowable effluent fibre limits, but no timing is given.</a:t>
            </a:r>
          </a:p>
          <a:p xmlns:a="http://schemas.openxmlformats.org/drawingml/2006/main">
            <a:r>
              <a:t>Countercase: if the proxy validates, existing TSS measurement may be good enough. E11: adidas expects limited near-term regulatory/claims pull. All dates and research claims here are from supplied source artifacts, not independently refreshed for this draft.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reports/outreach/copy/pitch.md, 2026-09-14. Editorial draft from the existing investor brief.</a:t>
            </a:r>
          </a:p>
          <a:p xmlns:a="http://schemas.openxmlformats.org/drawingml/2006/main">
            <a:r>
              <a:t>Founder biographies: founders/sandra-zalas.md and founders/izgin-ozdas.md. Current title allocation follows the 2026-09-14 pitch, which is newer than some founder records. Sandra founded Baltic Jungle Lab and is a PFR School of Pioneers winner. Izgin contributed to CNC robot automation at IMTEK and holds a Cambridge MPhil in Industrial Systems, Manufacturing &amp; Management with interoperability work.</a:t>
            </a:r>
          </a:p>
          <a:p xmlns:a="http://schemas.openxmlformats.org/drawingml/2006/main">
            <a:r>
              <a:t>Jeffrey Chang introduced ML/computer-vision experience on the Matter call. Irfan Ali role comes from the founder pitch, with his one-line bio still open. Proposed advisor names remain explicitly unconfirmed for external naming.</a:t>
            </a:r>
          </a:p>
          <a:p xmlns:a="http://schemas.openxmlformats.org/drawingml/2006/main">
            <a:r>
              <a:t>Founder decisions outstanding: Igor Veredyn introduced himself on H&amp;M call as technical co-founder; whether he belongs on the team slide is unresolved. Confirm final roles, Sandra biography and advisor consent before external circulation.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reports/outreach/copy/pitch.md, 2026-09-14. Editorial draft from the existing investor brief.</a:t>
            </a:r>
          </a:p>
          <a:p xmlns:a="http://schemas.openxmlformats.org/drawingml/2006/main">
            <a:r>
              <a:t>Evidence E10: adidas microfibre lead Varija Subasingha said this was the first such device she had come across. It is an observation by one interviewee, not a novelty or exclusivity claim. E9: offered potential brand-partner/Fashion for Good introductions conditional on a good prototype.</a:t>
            </a:r>
          </a:p>
          <a:p xmlns:a="http://schemas.openxmlformats.org/drawingml/2006/main">
            <a:r>
              <a:t>Evidence E8: H&amp;M innovation/water team quote, with ellipsis retained, referred to monitoring compared with filtration/ETP solutions known to them. E9: supplier access was tentative, not arranged.</a:t>
            </a:r>
          </a:p>
          <a:p xmlns:a="http://schemas.openxmlformats.org/drawingml/2006/main">
            <a:r>
              <a:t>Matter conversations are under NDA. This slide intentionally carries only relationship status and publicly described industry. Any further pilot invitation details require the founders to approve wording against the NDA.</a:t>
            </a:r>
          </a:p>
          <a:p xmlns:a="http://schemas.openxmlformats.org/drawingml/2006/main">
            <a:r>
              <a:t>All relationships are active conversations, not revenue, paid design partnerships or signed pilots. Sources: E5-E10, reports/03-validation/evidence.md.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reports/outreach/copy/pitch.md, 2026-09-14. Editorial draft from the existing investor brief.</a:t>
            </a:r>
          </a:p>
          <a:p xmlns:a="http://schemas.openxmlformats.org/drawingml/2006/main">
            <a:r>
              <a:t>Market figures are assumptions in the existing pitch. Installed base 50,000-150,000 inferred from shipment flow, an assumed 15-20 year service life and local manufacturers outside the reporting sample. Do not present the installed base as a measured count.</a:t>
            </a:r>
          </a:p>
          <a:p xmlns:a="http://schemas.openxmlformats.org/drawingml/2006/main">
            <a:r>
              <a:t>Annual software scenario: 50,000 × $100/month × 12 = $60M; 150,000 × $250/month × 12 = $450M. Assumes 100% adoption and one paid subscription per machine. No tested willingness to pay, validated price or sales forecast.</a:t>
            </a:r>
          </a:p>
          <a:p xmlns:a="http://schemas.openxmlformats.org/drawingml/2006/main">
            <a:r>
              <a:t>Shipment source used in the brief: ITMF via https://www.textileworld.com/textile-world/2026/07/itmf-global-textile-machinery-shipments-shrunk-in-2025-except-for-spinning/ . Do not confuse annual shipments with the installed base.</a:t>
            </a:r>
          </a:p>
          <a:p xmlns:a="http://schemas.openxmlformats.org/drawingml/2006/main">
            <a:r>
              <a:t>Expansion is a founder vision from input-context/belief.md, not validated demand in every liquid process. Funding amount, use-of-funds allocation, and timeline remain founder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672e65ad6a4d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109178bfb74619" /><Relationship Type="http://schemas.openxmlformats.org/officeDocument/2006/relationships/slideLayout" Target="/ppt/slideLayouts/slideLayout1.xml" Id="Rb524abd89bd942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24abd89bd942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861cde2924c97" /><Relationship Type="http://schemas.openxmlformats.org/officeDocument/2006/relationships/image" Target="/ppt/media/image.png" Id="R6b66a8de7c2741ab" /><Relationship Type="http://schemas.openxmlformats.org/officeDocument/2006/relationships/notesSlide" Target="/ppt/notesSlides/notesSlide1.xml" Id="R2aef180bd56e43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ac288dab9426c" /><Relationship Type="http://schemas.openxmlformats.org/officeDocument/2006/relationships/notesSlide" Target="/ppt/notesSlides/notesSlide2.xml" Id="R410b6fa75adc4b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7cf8fe2c64fa6" /><Relationship Type="http://schemas.openxmlformats.org/officeDocument/2006/relationships/notesSlide" Target="/ppt/notesSlides/notesSlide3.xml" Id="Rb94a70008f4947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579f30778473b" /><Relationship Type="http://schemas.openxmlformats.org/officeDocument/2006/relationships/notesSlide" Target="/ppt/notesSlides/notesSlide4.xml" Id="Rb818360df6dd4e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ad2d4ec674da6" /><Relationship Type="http://schemas.openxmlformats.org/officeDocument/2006/relationships/notesSlide" Target="/ppt/notesSlides/notesSlide5.xml" Id="R9a57279bfe1845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7633d0a354269" /><Relationship Type="http://schemas.openxmlformats.org/officeDocument/2006/relationships/notesSlide" Target="/ppt/notesSlides/notesSlide6.xml" Id="Rcbcece09c75143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b2932ee9941b5" /><Relationship Type="http://schemas.openxmlformats.org/officeDocument/2006/relationships/notesSlide" Target="/ppt/notesSlides/notesSlide7.xml" Id="R645a41a3599549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6a8de7c2741a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3C16A0F-ED3E-450C-8B85-C62B1170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666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Lattice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DD2316A-0BB6-49E2-BF97-D3894D96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Sensing the impossible.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C68AEA1-FC0B-42DE-B2C8-DC8F11ED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552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Microfibre measurement</a:t>
            </a:r>
          </a:p>
          <a:p xmlns:a="http://schemas.openxmlformats.org/drawingml/2006/main">
            <a:pPr>
              <a:defRPr sz="21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at the factory outlet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2C7543A-0CB9-4F18-A122-7C086B05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Sandra Zalas  /  Izgin Ozdas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F4E582A-2242-4A62-9F74-FDE0C3E2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PRE-SEED DRAFT  /  SEPT 2026</a:t>
            </a:r>
          </a:p>
        </p:txBody>
      </p:sp>
    </p:spTree>
    <p:extLst>
      <p:ext uri="{BB962C8B-B14F-4D97-AF65-F5344CB8AC3E}">
        <p14:creationId xmlns:p14="http://schemas.microsoft.com/office/powerpoint/2010/main" val="1116567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6">
            <a:extLst xmlns:a="http://schemas.openxmlformats.org/drawingml/2006/main">
              <a:ext uri="{FF2B5EF4-FFF2-40B4-BE49-F238E27FC236}">
                <a16:creationId xmlns:a16="http://schemas.microsoft.com/office/drawing/2014/main" id="{7AE58081-4975-4B16-8D9B-7B26853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1E1B2358-9F80-4D0E-A64C-6C2CFE62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FC8275F1-70E6-43CE-BCB9-D80A8C38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108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batch is gone.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result is still in the lab.</a:t>
            </a:r>
          </a:p>
        </p:txBody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B337B4A7-E617-4C1A-9C32-320EAAE7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0" b="1">
                <a:solidFill>
                  <a:srgbClr val="3CC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0" b="1">
                <a:solidFill>
                  <a:srgbClr val="3CC8D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58ABA6FD-8B2F-466D-8CCF-6FCE9E1F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05325"/>
            <a:ext cx="3524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weeks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1146186E-5544-4099-AECF-A4AA1D07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4667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€390 per wastewater sample¹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0DB99B50-3BD9-4C31-8C5A-15770FE6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5962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“We do not necessarily</a:t>
            </a:r>
          </a:p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control microfiber.”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2FECA9A0-224D-476B-B772-60BD053B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37197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H&amp;M water team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C4950FBF-3D8E-4827-9C37-49EF7B26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981575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Mills use total suspended solids as a proxy.</a:t>
            </a:r>
          </a:p>
          <a:p xmlns:a="http://schemas.openxmlformats.org/drawingml/2006/main">
            <a:pPr>
              <a:defRPr sz="18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It does not identify which particles are fibres.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BB0F67F9-081C-4916-A22E-F7030FAF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055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¹ Measurlabs listing cited in the brief. Four weeks after receipt, plus €97 per order.</a:t>
            </a:r>
          </a:p>
        </p:txBody>
      </p:sp>
    </p:spTree>
    <p:extLst>
      <p:ext uri="{BB962C8B-B14F-4D97-AF65-F5344CB8AC3E}">
        <p14:creationId xmlns:p14="http://schemas.microsoft.com/office/powerpoint/2010/main" val="4646630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52ACBD5B-731F-4CDF-B16F-1F94ECD0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SOLUTION</a:t>
            </a:r>
          </a:p>
        </p:txBody>
      </p:sp>
      <p:sp>
        <p:nvSpPr>
          <p:cNvPr id="2" name="text-17">
            <a:extLst xmlns:a="http://schemas.openxmlformats.org/drawingml/2006/main">
              <a:ext uri="{FF2B5EF4-FFF2-40B4-BE49-F238E27FC236}">
                <a16:creationId xmlns:a16="http://schemas.microsoft.com/office/drawing/2014/main" id="{E7E95FD8-7C87-4E04-ACEF-49D0DA09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text-18">
            <a:extLst xmlns:a="http://schemas.openxmlformats.org/drawingml/2006/main">
              <a:ext uri="{FF2B5EF4-FFF2-40B4-BE49-F238E27FC236}">
                <a16:creationId xmlns:a16="http://schemas.microsoft.com/office/drawing/2014/main" id="{CAEF1C18-4B2D-49C5-BDAE-97D721EE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572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microfibre number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 every batch</a:t>
            </a:r>
          </a:p>
        </p:txBody>
      </p:sp>
      <p:sp>
        <p:nvSpPr>
          <p:cNvPr id="4" name="text-19">
            <a:extLst xmlns:a="http://schemas.openxmlformats.org/drawingml/2006/main">
              <a:ext uri="{FF2B5EF4-FFF2-40B4-BE49-F238E27FC236}">
                <a16:creationId xmlns:a16="http://schemas.microsoft.com/office/drawing/2014/main" id="{C491AD7E-368A-4863-81BC-9D9315FB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955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An optical module beside the dye-machine discharge line.</a:t>
            </a:r>
          </a:p>
        </p:txBody>
      </p:sp>
      <p:sp>
        <p:nvSpPr>
          <p:cNvPr id="5" name="text-20">
            <a:extLst xmlns:a="http://schemas.openxmlformats.org/drawingml/2006/main">
              <a:ext uri="{FF2B5EF4-FFF2-40B4-BE49-F238E27FC236}">
                <a16:creationId xmlns:a16="http://schemas.microsoft.com/office/drawing/2014/main" id="{410071C4-30D9-4652-8EA7-280CFBD6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A4F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8A4FC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text-21">
            <a:extLst xmlns:a="http://schemas.openxmlformats.org/drawingml/2006/main">
              <a:ext uri="{FF2B5EF4-FFF2-40B4-BE49-F238E27FC236}">
                <a16:creationId xmlns:a16="http://schemas.microsoft.com/office/drawing/2014/main" id="{CA41BD95-4832-4767-B00C-567121C5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Sample</a:t>
            </a:r>
          </a:p>
        </p:txBody>
      </p:sp>
      <p:sp>
        <p:nvSpPr>
          <p:cNvPr id="7" name="text-22">
            <a:extLst xmlns:a="http://schemas.openxmlformats.org/drawingml/2006/main">
              <a:ext uri="{FF2B5EF4-FFF2-40B4-BE49-F238E27FC236}">
                <a16:creationId xmlns:a16="http://schemas.microsoft.com/office/drawing/2014/main" id="{E1B4925D-826C-4737-9801-99D5766C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3105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A bypass draws</a:t>
            </a:r>
          </a:p>
          <a:p xmlns:a="http://schemas.openxmlformats.org/drawingml/2006/main">
            <a:pPr>
              <a:def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process water.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15B0F-C4E7-4785-9E61-66444A7E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862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4FC7"/>
            </a:solidFill>
          </a:ln>
        </p:spPr>
      </p:sp>
      <p:sp>
        <p:nvSpPr>
          <p:cNvPr id="9" name="text-23">
            <a:extLst xmlns:a="http://schemas.openxmlformats.org/drawingml/2006/main">
              <a:ext uri="{FF2B5EF4-FFF2-40B4-BE49-F238E27FC236}">
                <a16:creationId xmlns:a16="http://schemas.microsoft.com/office/drawing/2014/main" id="{CC0FB82A-AFF4-4855-82B8-69ADA06C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0522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CC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CC8D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text-24">
            <a:extLst xmlns:a="http://schemas.openxmlformats.org/drawingml/2006/main">
              <a:ext uri="{FF2B5EF4-FFF2-40B4-BE49-F238E27FC236}">
                <a16:creationId xmlns:a16="http://schemas.microsoft.com/office/drawing/2014/main" id="{140EE68B-2122-4459-AEC0-D005F23C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148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Capture + image</a:t>
            </a:r>
          </a:p>
        </p:txBody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DC2025CC-1200-4D12-911A-BE3848A8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14900"/>
            <a:ext cx="3105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A membrane holds fibres</a:t>
            </a:r>
          </a:p>
          <a:p xmlns:a="http://schemas.openxmlformats.org/drawingml/2006/main">
            <a:pPr>
              <a:def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for polarised imaging.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BC531-4AFD-42B7-B98E-D75548CD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862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C8D8"/>
            </a:solidFill>
          </a:ln>
        </p:spPr>
      </p:sp>
      <p:sp>
        <p:nvSpPr>
          <p:cNvPr id="13" name="text-26">
            <a:extLst xmlns:a="http://schemas.openxmlformats.org/drawingml/2006/main">
              <a:ext uri="{FF2B5EF4-FFF2-40B4-BE49-F238E27FC236}">
                <a16:creationId xmlns:a16="http://schemas.microsoft.com/office/drawing/2014/main" id="{6AE6D615-BB39-4016-B841-079519BF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0522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A4F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8A4FC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85CF6A96-BD91-4FFE-BF90-63448E19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148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Measure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E847A675-ACCD-4BBC-A10E-9BE3C514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14900"/>
            <a:ext cx="3105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Count and size fibres,</a:t>
            </a:r>
          </a:p>
          <a:p xmlns:a="http://schemas.openxmlformats.org/drawingml/2006/main">
            <a:pPr>
              <a:def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linked to the batch.</a:t>
            </a:r>
          </a:p>
        </p:txBody>
      </p:sp>
      <p:sp>
        <p:nvSpPr>
          <p:cNvPr id="16" name="text-29">
            <a:extLst xmlns:a="http://schemas.openxmlformats.org/drawingml/2006/main">
              <a:ext uri="{FF2B5EF4-FFF2-40B4-BE49-F238E27FC236}">
                <a16:creationId xmlns:a16="http://schemas.microsoft.com/office/drawing/2014/main" id="{319EA897-F26D-4117-A620-E4B78A9B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674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Development target. Next test: optical contrast in dyed wastewater.</a:t>
            </a:r>
          </a:p>
        </p:txBody>
      </p:sp>
    </p:spTree>
    <p:extLst>
      <p:ext uri="{BB962C8B-B14F-4D97-AF65-F5344CB8AC3E}">
        <p14:creationId xmlns:p14="http://schemas.microsoft.com/office/powerpoint/2010/main" val="15195683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30">
            <a:extLst xmlns:a="http://schemas.openxmlformats.org/drawingml/2006/main">
              <a:ext uri="{FF2B5EF4-FFF2-40B4-BE49-F238E27FC236}">
                <a16:creationId xmlns:a16="http://schemas.microsoft.com/office/drawing/2014/main" id="{5B383D9C-8106-4134-9A3B-D38DC8B8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WHY NOW</a:t>
            </a:r>
          </a:p>
        </p:txBody>
      </p:sp>
      <p:sp>
        <p:nvSpPr>
          <p:cNvPr id="2" name="text-31">
            <a:extLst xmlns:a="http://schemas.openxmlformats.org/drawingml/2006/main">
              <a:ext uri="{FF2B5EF4-FFF2-40B4-BE49-F238E27FC236}">
                <a16:creationId xmlns:a16="http://schemas.microsoft.com/office/drawing/2014/main" id="{79A56C70-95D2-4FCC-A393-3B8F563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text-32">
            <a:extLst xmlns:a="http://schemas.openxmlformats.org/drawingml/2006/main">
              <a:ext uri="{FF2B5EF4-FFF2-40B4-BE49-F238E27FC236}">
                <a16:creationId xmlns:a16="http://schemas.microsoft.com/office/drawing/2014/main" id="{9A7B7398-BD9C-453D-8A7C-79219C75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10953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industry is testing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its own proxy</a:t>
            </a:r>
          </a:p>
        </p:txBody>
      </p:sp>
      <p:sp>
        <p:nvSpPr>
          <p:cNvPr id="4" name="text-33">
            <a:extLst xmlns:a="http://schemas.openxmlformats.org/drawingml/2006/main">
              <a:ext uri="{FF2B5EF4-FFF2-40B4-BE49-F238E27FC236}">
                <a16:creationId xmlns:a16="http://schemas.microsoft.com/office/drawing/2014/main" id="{5DB659AA-FA7A-42BA-9AA0-024317E9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3810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550" b="1">
                <a:solidFill>
                  <a:srgbClr val="3CC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550" b="1">
                <a:solidFill>
                  <a:srgbClr val="3CC8D8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text-34">
            <a:extLst xmlns:a="http://schemas.openxmlformats.org/drawingml/2006/main">
              <a:ext uri="{FF2B5EF4-FFF2-40B4-BE49-F238E27FC236}">
                <a16:creationId xmlns:a16="http://schemas.microsoft.com/office/drawing/2014/main" id="{F7E5E27F-F5AB-44FD-AC31-94F1BED7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67225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facilities</a:t>
            </a:r>
          </a:p>
        </p:txBody>
      </p:sp>
      <p:sp>
        <p:nvSpPr>
          <p:cNvPr id="6" name="text-35">
            <a:extLst xmlns:a="http://schemas.openxmlformats.org/drawingml/2006/main">
              <a:ext uri="{FF2B5EF4-FFF2-40B4-BE49-F238E27FC236}">
                <a16:creationId xmlns:a16="http://schemas.microsoft.com/office/drawing/2014/main" id="{E1FBE35B-93C7-417A-9AB1-39ECE6DA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TMC + ZDHC study, April 2026</a:t>
            </a:r>
          </a:p>
        </p:txBody>
      </p:sp>
      <p:sp>
        <p:nvSpPr>
          <p:cNvPr id="7" name="text-36">
            <a:extLst xmlns:a="http://schemas.openxmlformats.org/drawingml/2006/main">
              <a:ext uri="{FF2B5EF4-FFF2-40B4-BE49-F238E27FC236}">
                <a16:creationId xmlns:a16="http://schemas.microsoft.com/office/drawing/2014/main" id="{6F8D4799-21FB-4797-907D-7A2AB71F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38475"/>
            <a:ext cx="560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Can suspended solids stand in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 actual fibre counts?</a:t>
            </a:r>
          </a:p>
        </p:txBody>
      </p:sp>
      <p:sp>
        <p:nvSpPr>
          <p:cNvPr id="8" name="text-37">
            <a:extLst xmlns:a="http://schemas.openxmlformats.org/drawingml/2006/main">
              <a:ext uri="{FF2B5EF4-FFF2-40B4-BE49-F238E27FC236}">
                <a16:creationId xmlns:a16="http://schemas.microsoft.com/office/drawing/2014/main" id="{A0288C81-1076-4A9F-BAD5-3A13B45E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19575"/>
            <a:ext cx="552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adidas, lululemon, Primark and Tesco</a:t>
            </a:r>
          </a:p>
          <a:p xmlns:a="http://schemas.openxmlformats.org/drawingml/2006/main">
            <a:pPr>
              <a:def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co-fund the second research phase.</a:t>
            </a:r>
          </a:p>
        </p:txBody>
      </p:sp>
      <p:sp>
        <p:nvSpPr>
          <p:cNvPr id="9" name="text-38">
            <a:extLst xmlns:a="http://schemas.openxmlformats.org/drawingml/2006/main">
              <a:ext uri="{FF2B5EF4-FFF2-40B4-BE49-F238E27FC236}">
                <a16:creationId xmlns:a16="http://schemas.microsoft.com/office/drawing/2014/main" id="{C0447ABA-586C-4BDC-BA53-7F83AE9B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14950"/>
            <a:ext cx="552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Inditex also grades mills on whether</a:t>
            </a:r>
          </a:p>
          <a:p xmlns:a="http://schemas.openxmlformats.org/drawingml/2006/main">
            <a:pPr>
              <a:def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they control fibre release.</a:t>
            </a:r>
          </a:p>
        </p:txBody>
      </p:sp>
      <p:sp>
        <p:nvSpPr>
          <p:cNvPr id="10" name="text-39">
            <a:extLst xmlns:a="http://schemas.openxmlformats.org/drawingml/2006/main">
              <a:ext uri="{FF2B5EF4-FFF2-40B4-BE49-F238E27FC236}">
                <a16:creationId xmlns:a16="http://schemas.microsoft.com/office/drawing/2014/main" id="{C1CF175D-66FD-49AE-928D-177C9E0D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15075"/>
            <a:ext cx="1087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Industry research and supplier standards. No universal mill discharge limit claimed.</a:t>
            </a:r>
          </a:p>
        </p:txBody>
      </p:sp>
    </p:spTree>
    <p:extLst>
      <p:ext uri="{BB962C8B-B14F-4D97-AF65-F5344CB8AC3E}">
        <p14:creationId xmlns:p14="http://schemas.microsoft.com/office/powerpoint/2010/main" val="17994432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40">
            <a:extLst xmlns:a="http://schemas.openxmlformats.org/drawingml/2006/main">
              <a:ext uri="{FF2B5EF4-FFF2-40B4-BE49-F238E27FC236}">
                <a16:creationId xmlns:a16="http://schemas.microsoft.com/office/drawing/2014/main" id="{497182A1-45D5-4201-B882-57A6877E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TEAM</a:t>
            </a:r>
          </a:p>
        </p:txBody>
      </p:sp>
      <p:sp>
        <p:nvSpPr>
          <p:cNvPr id="2" name="text-41">
            <a:extLst xmlns:a="http://schemas.openxmlformats.org/drawingml/2006/main">
              <a:ext uri="{FF2B5EF4-FFF2-40B4-BE49-F238E27FC236}">
                <a16:creationId xmlns:a16="http://schemas.microsoft.com/office/drawing/2014/main" id="{365A011D-695B-4168-9164-5E9B57AD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text-42">
            <a:extLst xmlns:a="http://schemas.openxmlformats.org/drawingml/2006/main">
              <a:ext uri="{FF2B5EF4-FFF2-40B4-BE49-F238E27FC236}">
                <a16:creationId xmlns:a16="http://schemas.microsoft.com/office/drawing/2014/main" id="{09B6FE37-A15E-4F71-BF3F-A33CEA60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53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Factory engineering meets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textile industry access</a:t>
            </a:r>
          </a:p>
        </p:txBody>
      </p:sp>
      <p:sp>
        <p:nvSpPr>
          <p:cNvPr id="4" name="text-43">
            <a:extLst xmlns:a="http://schemas.openxmlformats.org/drawingml/2006/main">
              <a:ext uri="{FF2B5EF4-FFF2-40B4-BE49-F238E27FC236}">
                <a16:creationId xmlns:a16="http://schemas.microsoft.com/office/drawing/2014/main" id="{28E920BD-D2F4-4BBF-B7D1-A658F908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43225"/>
            <a:ext cx="54006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Sandra Zalas</a:t>
            </a:r>
          </a:p>
        </p:txBody>
      </p:sp>
      <p:sp>
        <p:nvSpPr>
          <p:cNvPr id="5" name="text-44">
            <a:extLst xmlns:a="http://schemas.openxmlformats.org/drawingml/2006/main">
              <a:ext uri="{FF2B5EF4-FFF2-40B4-BE49-F238E27FC236}">
                <a16:creationId xmlns:a16="http://schemas.microsoft.com/office/drawing/2014/main" id="{AE8715B5-D591-4D3F-8A9E-F3D10922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CC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CC8D8"/>
                </a:solidFill>
                <a:latin typeface="Helvetica Neue"/>
                <a:ea typeface="Helvetica Neue"/>
                <a:cs typeface="Helvetica Neue"/>
              </a:rPr>
              <a:t>CEO</a:t>
            </a:r>
          </a:p>
        </p:txBody>
      </p:sp>
      <p:sp>
        <p:nvSpPr>
          <p:cNvPr id="6" name="text-45">
            <a:extLst xmlns:a="http://schemas.openxmlformats.org/drawingml/2006/main">
              <a:ext uri="{FF2B5EF4-FFF2-40B4-BE49-F238E27FC236}">
                <a16:creationId xmlns:a16="http://schemas.microsoft.com/office/drawing/2014/main" id="{53436694-1891-4F6E-8220-176DC900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5181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Founder, Baltic Jungle Lab</a:t>
            </a:r>
          </a:p>
          <a:p xmlns:a="http://schemas.openxmlformats.org/drawingml/2006/main">
            <a:pPr>
              <a:def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PFR School of Pioneers winner</a:t>
            </a:r>
          </a:p>
          <a:p xmlns:a="http://schemas.openxmlformats.org/drawingml/2006/main">
            <a:pPr>
              <a:def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Led the brand discovery calls</a:t>
            </a:r>
          </a:p>
        </p:txBody>
      </p:sp>
      <p:sp>
        <p:nvSpPr>
          <p:cNvPr id="7" name="text-46">
            <a:extLst xmlns:a="http://schemas.openxmlformats.org/drawingml/2006/main">
              <a:ext uri="{FF2B5EF4-FFF2-40B4-BE49-F238E27FC236}">
                <a16:creationId xmlns:a16="http://schemas.microsoft.com/office/drawing/2014/main" id="{B47240DB-21D1-4C0C-BFF3-4347038E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43225"/>
            <a:ext cx="5048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Izgin Ozdas</a:t>
            </a:r>
          </a:p>
        </p:txBody>
      </p:sp>
      <p:sp>
        <p:nvSpPr>
          <p:cNvPr id="8" name="text-47">
            <a:extLst xmlns:a="http://schemas.openxmlformats.org/drawingml/2006/main">
              <a:ext uri="{FF2B5EF4-FFF2-40B4-BE49-F238E27FC236}">
                <a16:creationId xmlns:a16="http://schemas.microsoft.com/office/drawing/2014/main" id="{00EC6583-9994-434F-9838-5A89E710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85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CC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CC8D8"/>
                </a:solidFill>
                <a:latin typeface="Helvetica Neue"/>
                <a:ea typeface="Helvetica Neue"/>
                <a:cs typeface="Helvetica Neue"/>
              </a:rPr>
              <a:t>CTO</a:t>
            </a:r>
          </a:p>
        </p:txBody>
      </p:sp>
      <p:sp>
        <p:nvSpPr>
          <p:cNvPr id="9" name="text-48">
            <a:extLst xmlns:a="http://schemas.openxmlformats.org/drawingml/2006/main">
              <a:ext uri="{FF2B5EF4-FFF2-40B4-BE49-F238E27FC236}">
                <a16:creationId xmlns:a16="http://schemas.microsoft.com/office/drawing/2014/main" id="{C87D8C7B-8E6B-4121-A791-F3EDE659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CNC-line automation at IMTEK</a:t>
            </a:r>
          </a:p>
          <a:p xmlns:a="http://schemas.openxmlformats.org/drawingml/2006/main">
            <a:pPr>
              <a:def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Cambridge MPhil</a:t>
            </a:r>
          </a:p>
          <a:p xmlns:a="http://schemas.openxmlformats.org/drawingml/2006/main">
            <a:pPr>
              <a:def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Manufacturing interoperability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05B62-9D7F-4160-9CE8-AF57D7B3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13A"/>
            </a:solidFill>
          </a:ln>
        </p:spPr>
      </p:sp>
      <p:sp>
        <p:nvSpPr>
          <p:cNvPr id="11" name="text-49">
            <a:extLst xmlns:a="http://schemas.openxmlformats.org/drawingml/2006/main">
              <a:ext uri="{FF2B5EF4-FFF2-40B4-BE49-F238E27FC236}">
                <a16:creationId xmlns:a16="http://schemas.microsoft.com/office/drawing/2014/main" id="{CD8A1602-C336-4792-A78E-035E081A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Engineering: Jeffrey Chang, ML  /  Irfan Ali, textile data</a:t>
            </a:r>
          </a:p>
        </p:txBody>
      </p:sp>
      <p:sp>
        <p:nvSpPr>
          <p:cNvPr id="12" name="text-50">
            <a:extLst xmlns:a="http://schemas.openxmlformats.org/drawingml/2006/main">
              <a:ext uri="{FF2B5EF4-FFF2-40B4-BE49-F238E27FC236}">
                <a16:creationId xmlns:a16="http://schemas.microsoft.com/office/drawing/2014/main" id="{E82A6A19-C31F-4A71-B294-01D52711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Proposed advisors: Manu Prakash, Sam Brooks, Daniel Theobald. Naming approval pending.</a:t>
            </a:r>
          </a:p>
        </p:txBody>
      </p:sp>
    </p:spTree>
    <p:extLst>
      <p:ext uri="{BB962C8B-B14F-4D97-AF65-F5344CB8AC3E}">
        <p14:creationId xmlns:p14="http://schemas.microsoft.com/office/powerpoint/2010/main" val="1212483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51">
            <a:extLst xmlns:a="http://schemas.openxmlformats.org/drawingml/2006/main">
              <a:ext uri="{FF2B5EF4-FFF2-40B4-BE49-F238E27FC236}">
                <a16:creationId xmlns:a16="http://schemas.microsoft.com/office/drawing/2014/main" id="{D2358F55-A3EA-4E2F-B48D-DFF429EB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TRACTION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E3056BB3-1387-4CBD-9996-99171580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A2DD93C7-5E36-4804-89C0-8AF8C283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858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Industry conversations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are opening doors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3AD15CBC-5391-46D0-8DCB-D2590314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adidas</a:t>
            </a:r>
          </a:p>
        </p:txBody>
      </p:sp>
      <p:sp>
        <p:nvSpPr>
          <p:cNvPr id="5" name="text-55">
            <a:extLst xmlns:a="http://schemas.openxmlformats.org/drawingml/2006/main">
              <a:ext uri="{FF2B5EF4-FFF2-40B4-BE49-F238E27FC236}">
                <a16:creationId xmlns:a16="http://schemas.microsoft.com/office/drawing/2014/main" id="{1240AAFE-FECA-4716-8272-7E643790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867025"/>
            <a:ext cx="7381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“This is the first time I’ve come across such a device.”</a:t>
            </a:r>
          </a:p>
        </p:txBody>
      </p:sp>
      <p:sp>
        <p:nvSpPr>
          <p:cNvPr id="6" name="text-56">
            <a:extLst xmlns:a="http://schemas.openxmlformats.org/drawingml/2006/main">
              <a:ext uri="{FF2B5EF4-FFF2-40B4-BE49-F238E27FC236}">
                <a16:creationId xmlns:a16="http://schemas.microsoft.com/office/drawing/2014/main" id="{B46B0735-35C4-452D-B550-4F4E06A7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362325"/>
            <a:ext cx="735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Partner introductions conditional on a working prototype.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F705A-B537-4F1E-997B-148FACD3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95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13A"/>
            </a:solidFill>
          </a:ln>
        </p:spPr>
      </p:sp>
      <p:sp>
        <p:nvSpPr>
          <p:cNvPr id="8" name="text-57">
            <a:extLst xmlns:a="http://schemas.openxmlformats.org/drawingml/2006/main">
              <a:ext uri="{FF2B5EF4-FFF2-40B4-BE49-F238E27FC236}">
                <a16:creationId xmlns:a16="http://schemas.microsoft.com/office/drawing/2014/main" id="{B69F79CE-5A93-42E9-949D-DCAA5854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H&amp;M Group</a:t>
            </a:r>
          </a:p>
        </p:txBody>
      </p:sp>
      <p:sp>
        <p:nvSpPr>
          <p:cNvPr id="9" name="text-58">
            <a:extLst xmlns:a="http://schemas.openxmlformats.org/drawingml/2006/main">
              <a:ext uri="{FF2B5EF4-FFF2-40B4-BE49-F238E27FC236}">
                <a16:creationId xmlns:a16="http://schemas.microsoft.com/office/drawing/2014/main" id="{7EC42F49-1ED9-4A3C-A574-9514EAA0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76700"/>
            <a:ext cx="7381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“No one is… monitoring.”</a:t>
            </a:r>
          </a:p>
        </p:txBody>
      </p:sp>
      <p:sp>
        <p:nvSpPr>
          <p:cNvPr id="10" name="text-59">
            <a:extLst xmlns:a="http://schemas.openxmlformats.org/drawingml/2006/main">
              <a:ext uri="{FF2B5EF4-FFF2-40B4-BE49-F238E27FC236}">
                <a16:creationId xmlns:a16="http://schemas.microsoft.com/office/drawing/2014/main" id="{3815C7E9-22D2-4D79-B483-3D9D42A1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572000"/>
            <a:ext cx="735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Open to exploring access to a supplier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72DB5-4655-4773-9BAD-464EEE80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13A"/>
            </a:solidFill>
          </a:ln>
        </p:spPr>
      </p:sp>
      <p:sp>
        <p:nvSpPr>
          <p:cNvPr id="12" name="text-60">
            <a:extLst xmlns:a="http://schemas.openxmlformats.org/drawingml/2006/main">
              <a:ext uri="{FF2B5EF4-FFF2-40B4-BE49-F238E27FC236}">
                <a16:creationId xmlns:a16="http://schemas.microsoft.com/office/drawing/2014/main" id="{C8F27520-D95A-42E3-B656-1CCEE2CD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Matter</a:t>
            </a:r>
          </a:p>
        </p:txBody>
      </p:sp>
      <p:sp>
        <p:nvSpPr>
          <p:cNvPr id="13" name="text-61">
            <a:extLst xmlns:a="http://schemas.openxmlformats.org/drawingml/2006/main">
              <a:ext uri="{FF2B5EF4-FFF2-40B4-BE49-F238E27FC236}">
                <a16:creationId xmlns:a16="http://schemas.microsoft.com/office/drawing/2014/main" id="{EDFE9210-72B7-4C7C-994B-37D9D3A9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286375"/>
            <a:ext cx="7381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Technical conversations under NDA</a:t>
            </a:r>
          </a:p>
        </p:txBody>
      </p:sp>
      <p:sp>
        <p:nvSpPr>
          <p:cNvPr id="14" name="text-62">
            <a:extLst xmlns:a="http://schemas.openxmlformats.org/drawingml/2006/main">
              <a:ext uri="{FF2B5EF4-FFF2-40B4-BE49-F238E27FC236}">
                <a16:creationId xmlns:a16="http://schemas.microsoft.com/office/drawing/2014/main" id="{A9710341-04D6-4310-9DF2-8F39A843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781675"/>
            <a:ext cx="735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Industrial microfibre filtration.</a:t>
            </a:r>
          </a:p>
        </p:txBody>
      </p:sp>
      <p:sp>
        <p:nvSpPr>
          <p:cNvPr id="15" name="text-63">
            <a:extLst xmlns:a="http://schemas.openxmlformats.org/drawingml/2006/main">
              <a:ext uri="{FF2B5EF4-FFF2-40B4-BE49-F238E27FC236}">
                <a16:creationId xmlns:a16="http://schemas.microsoft.com/office/drawing/2014/main" id="{EFB2F073-2588-433B-AFFC-8B51A520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CC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CC8D8"/>
                </a:solidFill>
                <a:latin typeface="Helvetica Neue"/>
                <a:ea typeface="Helvetica Neue"/>
                <a:cs typeface="Helvetica Neue"/>
              </a:rPr>
              <a:t>Pre-revenue. Pre-funding. No signed LOI or paid pilot.</a:t>
            </a:r>
          </a:p>
        </p:txBody>
      </p:sp>
    </p:spTree>
    <p:extLst>
      <p:ext uri="{BB962C8B-B14F-4D97-AF65-F5344CB8AC3E}">
        <p14:creationId xmlns:p14="http://schemas.microsoft.com/office/powerpoint/2010/main" val="2057242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64">
            <a:extLst xmlns:a="http://schemas.openxmlformats.org/drawingml/2006/main">
              <a:ext uri="{FF2B5EF4-FFF2-40B4-BE49-F238E27FC236}">
                <a16:creationId xmlns:a16="http://schemas.microsoft.com/office/drawing/2014/main" id="{16D8B565-783F-4F58-83D6-15F83ED9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WHY THE FUTURE</a:t>
            </a:r>
          </a:p>
        </p:txBody>
      </p:sp>
      <p:sp>
        <p:nvSpPr>
          <p:cNvPr id="2" name="text-65">
            <a:extLst xmlns:a="http://schemas.openxmlformats.org/drawingml/2006/main">
              <a:ext uri="{FF2B5EF4-FFF2-40B4-BE49-F238E27FC236}">
                <a16:creationId xmlns:a16="http://schemas.microsoft.com/office/drawing/2014/main" id="{58B3FEC6-15BB-4E6D-82CD-2FC46448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text-66">
            <a:extLst xmlns:a="http://schemas.openxmlformats.org/drawingml/2006/main">
              <a:ext uri="{FF2B5EF4-FFF2-40B4-BE49-F238E27FC236}">
                <a16:creationId xmlns:a16="http://schemas.microsoft.com/office/drawing/2014/main" id="{E9B5D07F-8267-4AB1-B2D7-49A49682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8585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Every dye machine first.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Industrial liquids next.</a:t>
            </a:r>
          </a:p>
        </p:txBody>
      </p:sp>
      <p:sp>
        <p:nvSpPr>
          <p:cNvPr id="4" name="text-67">
            <a:extLst xmlns:a="http://schemas.openxmlformats.org/drawingml/2006/main">
              <a:ext uri="{FF2B5EF4-FFF2-40B4-BE49-F238E27FC236}">
                <a16:creationId xmlns:a16="http://schemas.microsoft.com/office/drawing/2014/main" id="{A2611057-A9F1-4DAE-BC25-43AF0F3E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1775"/>
            <a:ext cx="6810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3CC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00" b="1">
                <a:solidFill>
                  <a:srgbClr val="3CC8D8"/>
                </a:solidFill>
                <a:latin typeface="Helvetica Neue"/>
                <a:ea typeface="Helvetica Neue"/>
                <a:cs typeface="Helvetica Neue"/>
              </a:rPr>
              <a:t>50–150k</a:t>
            </a:r>
          </a:p>
        </p:txBody>
      </p:sp>
      <p:sp>
        <p:nvSpPr>
          <p:cNvPr id="5" name="text-68">
            <a:extLst xmlns:a="http://schemas.openxmlformats.org/drawingml/2006/main">
              <a:ext uri="{FF2B5EF4-FFF2-40B4-BE49-F238E27FC236}">
                <a16:creationId xmlns:a16="http://schemas.microsoft.com/office/drawing/2014/main" id="{EFA4804A-5A03-4904-A948-6B39E37F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19575"/>
            <a:ext cx="701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dyeing machines in service</a:t>
            </a:r>
          </a:p>
        </p:txBody>
      </p:sp>
      <p:sp>
        <p:nvSpPr>
          <p:cNvPr id="6" name="text-69">
            <a:extLst xmlns:a="http://schemas.openxmlformats.org/drawingml/2006/main">
              <a:ext uri="{FF2B5EF4-FFF2-40B4-BE49-F238E27FC236}">
                <a16:creationId xmlns:a16="http://schemas.microsoft.com/office/drawing/2014/main" id="{0BAF2392-2E82-41E7-BA5F-76446C67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7202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Estimated installed base</a:t>
            </a:r>
          </a:p>
        </p:txBody>
      </p:sp>
      <p:sp>
        <p:nvSpPr>
          <p:cNvPr id="7" name="text-70">
            <a:extLst xmlns:a="http://schemas.openxmlformats.org/drawingml/2006/main">
              <a:ext uri="{FF2B5EF4-FFF2-40B4-BE49-F238E27FC236}">
                <a16:creationId xmlns:a16="http://schemas.microsoft.com/office/drawing/2014/main" id="{07FA5B9E-F9F3-4DAE-84F4-8A3F2730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$60–450M</a:t>
            </a:r>
          </a:p>
        </p:txBody>
      </p:sp>
      <p:sp>
        <p:nvSpPr>
          <p:cNvPr id="8" name="text-71">
            <a:extLst xmlns:a="http://schemas.openxmlformats.org/drawingml/2006/main">
              <a:ext uri="{FF2B5EF4-FFF2-40B4-BE49-F238E27FC236}">
                <a16:creationId xmlns:a16="http://schemas.microsoft.com/office/drawing/2014/main" id="{600C5CD5-48A3-453B-A5A1-EC4FB2E2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85762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annual software opportunity</a:t>
            </a:r>
          </a:p>
          <a:p xmlns:a="http://schemas.openxmlformats.org/drawingml/2006/main">
            <a:pPr>
              <a:def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at full modelled adoption</a:t>
            </a:r>
          </a:p>
        </p:txBody>
      </p:sp>
      <p:sp>
        <p:nvSpPr>
          <p:cNvPr id="9" name="text-72">
            <a:extLst xmlns:a="http://schemas.openxmlformats.org/drawingml/2006/main">
              <a:ext uri="{FF2B5EF4-FFF2-40B4-BE49-F238E27FC236}">
                <a16:creationId xmlns:a16="http://schemas.microsoft.com/office/drawing/2014/main" id="{AF25E79B-3934-4FCE-92D0-FCF07A2A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24475"/>
            <a:ext cx="10810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Fibre measurement is the first application.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ambition is observability for physical processes.</a:t>
            </a:r>
          </a:p>
        </p:txBody>
      </p:sp>
      <p:sp>
        <p:nvSpPr>
          <p:cNvPr id="10" name="text-73">
            <a:extLst xmlns:a="http://schemas.openxmlformats.org/drawingml/2006/main">
              <a:ext uri="{FF2B5EF4-FFF2-40B4-BE49-F238E27FC236}">
                <a16:creationId xmlns:a16="http://schemas.microsoft.com/office/drawing/2014/main" id="{F88DFC39-178B-4270-8D5F-8A6D9AEC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2388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7A5AE"/>
                </a:solidFill>
                <a:latin typeface="Helvetica Neue"/>
                <a:ea typeface="Helvetica Neue"/>
                <a:cs typeface="Helvetica Neue"/>
              </a:rPr>
              <a:t>Scenario: 50–150k machines × $100–250/month. Assumptions, not a revenue forecast.</a:t>
            </a:r>
          </a:p>
        </p:txBody>
      </p:sp>
      <p:sp>
        <p:nvSpPr>
          <p:cNvPr id="11" name="text-74">
            <a:extLst xmlns:a="http://schemas.openxmlformats.org/drawingml/2006/main">
              <a:ext uri="{FF2B5EF4-FFF2-40B4-BE49-F238E27FC236}">
                <a16:creationId xmlns:a16="http://schemas.microsoft.com/office/drawing/2014/main" id="{0D015030-D1C3-4098-A815-DB1D9C14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515100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9E4D6"/>
                </a:solidFill>
                <a:latin typeface="Helvetica Neue"/>
                <a:ea typeface="Helvetica Neue"/>
                <a:cs typeface="Helvetica Neue"/>
              </a:rPr>
              <a:t>Next: validate optical contrast, then a plant pilot. Funding target to be confirmed.</a:t>
            </a:r>
          </a:p>
        </p:txBody>
      </p:sp>
    </p:spTree>
    <p:extLst>
      <p:ext uri="{BB962C8B-B14F-4D97-AF65-F5344CB8AC3E}">
        <p14:creationId xmlns:p14="http://schemas.microsoft.com/office/powerpoint/2010/main" val="1840020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2026-09-15T03:11:10.7580000Z</dcterms:created>
  <dcterms:modified xsi:type="dcterms:W3CDTF">2026-09-15T03:11:10.7580000Z</dcterms:modified>
</coreProperties>
</file>